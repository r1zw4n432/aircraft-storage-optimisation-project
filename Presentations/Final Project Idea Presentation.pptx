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59" r:id="rId3"/>
    <p:sldId id="258" r:id="rId4"/>
    <p:sldId id="261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27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950781-C961-4C4B-880C-CCA9FD7ADD59}" v="16" dt="2024-10-27T22:32:45.4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48"/>
  </p:normalViewPr>
  <p:slideViewPr>
    <p:cSldViewPr snapToGrid="0">
      <p:cViewPr varScale="1">
        <p:scale>
          <a:sx n="112" d="100"/>
          <a:sy n="112" d="100"/>
        </p:scale>
        <p:origin x="6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zwan Khan (Student)" userId="6d1efeaa-879e-41d6-bec0-b95c2258027f" providerId="ADAL" clId="{77950781-C961-4C4B-880C-CCA9FD7ADD59}"/>
    <pc:docChg chg="addSld delSld modSld">
      <pc:chgData name="Rizwan Khan (Student)" userId="6d1efeaa-879e-41d6-bec0-b95c2258027f" providerId="ADAL" clId="{77950781-C961-4C4B-880C-CCA9FD7ADD59}" dt="2024-10-27T22:33:28.617" v="14" actId="1076"/>
      <pc:docMkLst>
        <pc:docMk/>
      </pc:docMkLst>
      <pc:sldChg chg="del">
        <pc:chgData name="Rizwan Khan (Student)" userId="6d1efeaa-879e-41d6-bec0-b95c2258027f" providerId="ADAL" clId="{77950781-C961-4C4B-880C-CCA9FD7ADD59}" dt="2024-10-27T22:33:22.028" v="13" actId="2696"/>
        <pc:sldMkLst>
          <pc:docMk/>
          <pc:sldMk cId="0" sldId="262"/>
        </pc:sldMkLst>
      </pc:sldChg>
      <pc:sldChg chg="addSp modSp new mod">
        <pc:chgData name="Rizwan Khan (Student)" userId="6d1efeaa-879e-41d6-bec0-b95c2258027f" providerId="ADAL" clId="{77950781-C961-4C4B-880C-CCA9FD7ADD59}" dt="2024-10-27T22:33:28.617" v="14" actId="1076"/>
        <pc:sldMkLst>
          <pc:docMk/>
          <pc:sldMk cId="2951936289" sldId="263"/>
        </pc:sldMkLst>
        <pc:spChg chg="add mod">
          <ac:chgData name="Rizwan Khan (Student)" userId="6d1efeaa-879e-41d6-bec0-b95c2258027f" providerId="ADAL" clId="{77950781-C961-4C4B-880C-CCA9FD7ADD59}" dt="2024-10-27T22:32:20.963" v="9"/>
          <ac:spMkLst>
            <pc:docMk/>
            <pc:sldMk cId="2951936289" sldId="263"/>
            <ac:spMk id="4" creationId="{F4C3E16F-875B-9EE3-1EEF-A726E1368590}"/>
          </ac:spMkLst>
        </pc:spChg>
        <pc:spChg chg="add mod">
          <ac:chgData name="Rizwan Khan (Student)" userId="6d1efeaa-879e-41d6-bec0-b95c2258027f" providerId="ADAL" clId="{77950781-C961-4C4B-880C-CCA9FD7ADD59}" dt="2024-10-27T22:33:28.617" v="14" actId="1076"/>
          <ac:spMkLst>
            <pc:docMk/>
            <pc:sldMk cId="2951936289" sldId="263"/>
            <ac:spMk id="5" creationId="{C92FE6C9-9C81-327C-4EE9-B0C3C3DD769F}"/>
          </ac:spMkLst>
        </pc:spChg>
        <pc:picChg chg="add mod">
          <ac:chgData name="Rizwan Khan (Student)" userId="6d1efeaa-879e-41d6-bec0-b95c2258027f" providerId="ADAL" clId="{77950781-C961-4C4B-880C-CCA9FD7ADD59}" dt="2024-10-27T22:32:46.864" v="12" actId="1076"/>
          <ac:picMkLst>
            <pc:docMk/>
            <pc:sldMk cId="2951936289" sldId="263"/>
            <ac:picMk id="3" creationId="{D69F3BE2-CFA8-5B76-7CE7-BB9FEFE1412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A48C1B-540E-7F46-AC7C-1634CF641265}" type="datetimeFigureOut">
              <a:rPr lang="en-GB" smtClean="0"/>
              <a:t>27/10/2024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958DE-BFCA-194A-99FD-5CF2C9CE57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0258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48709-157D-600E-44DB-AB7B89DD1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8DCC91-1159-FE11-E378-C8EB8D98B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C0EC8-AB85-D752-75D2-5B3619B0A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6CCF-FF84-7043-A221-51AC07857ED9}" type="datetimeFigureOut">
              <a:rPr lang="en-GB" smtClean="0"/>
              <a:t>27/10/2024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7109F-9379-28A5-D222-D0051F313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EF6B0-497D-8748-2B3D-B27BA2C8B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677E-3164-DF42-8692-AECA8042F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4809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4E81A-D7BA-63D7-6066-D9FE239FF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9CA51-68D6-852C-4E15-A0B5ED5F0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938FF-7283-A564-03A3-270B67F85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6CCF-FF84-7043-A221-51AC07857ED9}" type="datetimeFigureOut">
              <a:rPr lang="en-GB" smtClean="0"/>
              <a:t>27/10/2024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DC173-73C1-C90A-7C81-AE73DD026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D2BDC-DDEE-F965-DB69-689D280F9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677E-3164-DF42-8692-AECA8042F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4837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B6B0B-F949-13AF-8EF4-0F8B117E7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13874-E215-E119-6A83-E1E140ABC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224DE-B401-A608-9272-6D51A9F86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6CCF-FF84-7043-A221-51AC07857ED9}" type="datetimeFigureOut">
              <a:rPr lang="en-GB" smtClean="0"/>
              <a:t>27/10/2024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1DB85-C367-8C4E-9D02-3B3C07BA0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F383A-FFED-1861-3DCE-3F2E5FED6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677E-3164-DF42-8692-AECA8042F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018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14949-D66D-9FF8-A906-F5B20BC13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31F36-2DBA-B533-F792-56011B2756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9D4560-FEC3-FEB9-2E6E-0856B76134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4462A7-918F-125A-D096-C206B39F5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6CCF-FF84-7043-A221-51AC07857ED9}" type="datetimeFigureOut">
              <a:rPr lang="en-GB" smtClean="0"/>
              <a:t>27/10/2024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1F5B9-DA51-548C-9800-E07410FA8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51108-4178-7FB9-4B05-065C65CE9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677E-3164-DF42-8692-AECA8042F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271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D60F3-AEA1-3B7E-22CB-EB67423BC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0E83A2-20DA-D31C-C7E9-2D7430C31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D1E10D-7C8B-F9BD-DD2A-28104391E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10A97E-3315-A226-E9E3-D51506C397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5EA919-9AF7-0921-982C-B95B80CD70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16AECA-F5F7-E711-E563-DD527D078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6CCF-FF84-7043-A221-51AC07857ED9}" type="datetimeFigureOut">
              <a:rPr lang="en-GB" smtClean="0"/>
              <a:t>27/10/2024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4CD112-ACE2-C1B6-92B3-9E9FF2D96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717ABA-641E-9882-BF2C-488D0EE60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677E-3164-DF42-8692-AECA8042F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238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CA7FD-C271-6875-765B-6FCC74AA2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65199C-0E8E-3662-9291-91644567F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6CCF-FF84-7043-A221-51AC07857ED9}" type="datetimeFigureOut">
              <a:rPr lang="en-GB" smtClean="0"/>
              <a:t>27/10/2024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70D865-2A2F-9068-A294-22D133F34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85076-DC55-7F15-AA45-6B69B67B3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677E-3164-DF42-8692-AECA8042F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154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FBD8A7-3B8B-FB73-5278-F1EEFCD50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6CCF-FF84-7043-A221-51AC07857ED9}" type="datetimeFigureOut">
              <a:rPr lang="en-GB" smtClean="0"/>
              <a:t>27/10/2024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D37FD-E673-1041-E512-4AE4F1CAB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DE652-424E-001E-7D2C-EC6CEF21E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677E-3164-DF42-8692-AECA8042F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7025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8A614-9BC7-E436-2435-7867C18E9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0B95A-EE7D-9FE8-8E76-912E1DB27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602910-A7A6-0085-A05B-5F188B275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9A736-58BF-5405-CAD7-5DC8F8AB7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6CCF-FF84-7043-A221-51AC07857ED9}" type="datetimeFigureOut">
              <a:rPr lang="en-GB" smtClean="0"/>
              <a:t>27/10/2024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A9237-CC5C-03C9-331B-1E0B78C15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A2A83-32D9-6F13-C0A9-2A1613CD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677E-3164-DF42-8692-AECA8042F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987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6550A-1E66-96FA-D475-6F0A6E7E2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8A52FC-D4E0-02D3-4CF5-3608AEE83B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1835B1-4428-82F4-DE24-3C720505A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C50159-A6D7-E06A-96CA-F55DD72D0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6CCF-FF84-7043-A221-51AC07857ED9}" type="datetimeFigureOut">
              <a:rPr lang="en-GB" smtClean="0"/>
              <a:t>27/10/2024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130B09-45CE-CEB1-3396-7FFE685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B91C6E-AD2B-E9BE-C334-7902B3D9E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677E-3164-DF42-8692-AECA8042F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084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6E271-1F36-CF42-4605-E0CF3704E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7E5173-8919-FADF-3675-811B8E695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9A519-69CA-6871-83FE-ABA62FBCE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6CCF-FF84-7043-A221-51AC07857ED9}" type="datetimeFigureOut">
              <a:rPr lang="en-GB" smtClean="0"/>
              <a:t>27/10/2024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6BC42-1AF9-24B4-BA28-83D2C02CC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4877-08EE-220B-D0D7-89D566051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677E-3164-DF42-8692-AECA8042F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91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888894-0754-EB10-B43C-096CE05E51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F8BCB-A24D-7420-2EAE-2B678D677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3D097-C260-DDD3-4472-9981D87ED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6CCF-FF84-7043-A221-51AC07857ED9}" type="datetimeFigureOut">
              <a:rPr lang="en-GB" smtClean="0"/>
              <a:t>27/10/2024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16934-607C-8234-C9E3-6A0A804B5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6D2D0-3149-D928-2923-10AD50E1D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677E-3164-DF42-8692-AECA8042F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8172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117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2647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3681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8147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273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7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E335C6-D56A-FD20-9C43-5157E0C9A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F1CA7-698B-EE52-BC89-7E7076461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A66EB-3DE0-7DDF-DB8A-248F37A8F8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CE6CCF-FF84-7043-A221-51AC07857ED9}" type="datetimeFigureOut">
              <a:rPr lang="en-GB" smtClean="0"/>
              <a:t>27/10/2024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9F9F1-DE49-08DC-20D0-477EEDAB7A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32152-56DA-510D-DCE3-AE06C7E97C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90677E-3164-DF42-8692-AECA8042F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794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31" y="979785"/>
            <a:ext cx="6179939" cy="334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6541"/>
              </a:lnSpc>
            </a:pPr>
            <a:r>
              <a:rPr lang="en-US" sz="5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Digital Twin for Aircraft Cabin Storage Optimization</a:t>
            </a:r>
            <a:endParaRPr lang="en-US" sz="5250" dirty="0"/>
          </a:p>
        </p:txBody>
      </p:sp>
      <p:sp>
        <p:nvSpPr>
          <p:cNvPr id="4" name="Text 1"/>
          <p:cNvSpPr/>
          <p:nvPr/>
        </p:nvSpPr>
        <p:spPr>
          <a:xfrm>
            <a:off x="720031" y="4628456"/>
            <a:ext cx="6179939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583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Enhancing luggage stowage efficiency and passenger experience through simulation.</a:t>
            </a:r>
            <a:endParaRPr lang="en-US" sz="1583" dirty="0"/>
          </a:p>
        </p:txBody>
      </p:sp>
      <p:sp>
        <p:nvSpPr>
          <p:cNvPr id="5" name="Shape 2"/>
          <p:cNvSpPr/>
          <p:nvPr/>
        </p:nvSpPr>
        <p:spPr>
          <a:xfrm>
            <a:off x="720030" y="5492999"/>
            <a:ext cx="331529" cy="329108"/>
          </a:xfrm>
          <a:prstGeom prst="roundRect">
            <a:avLst>
              <a:gd name="adj" fmla="val 23151155"/>
            </a:avLst>
          </a:prstGeom>
          <a:solidFill>
            <a:srgbClr val="298C81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500"/>
          </a:p>
        </p:txBody>
      </p:sp>
      <p:sp>
        <p:nvSpPr>
          <p:cNvPr id="6" name="Text 3"/>
          <p:cNvSpPr/>
          <p:nvPr/>
        </p:nvSpPr>
        <p:spPr>
          <a:xfrm>
            <a:off x="835620" y="5657553"/>
            <a:ext cx="98649" cy="81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625"/>
              </a:lnSpc>
            </a:pPr>
            <a:r>
              <a:rPr lang="en-US" sz="11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RK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64728" y="5492899"/>
            <a:ext cx="1768872" cy="658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33"/>
              </a:lnSpc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by Rizwan Khan</a:t>
            </a:r>
          </a:p>
          <a:p>
            <a:pPr>
              <a:lnSpc>
                <a:spcPts val="2833"/>
              </a:lnSpc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</a:rPr>
              <a:t>KHA22555272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571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7243" y="2823964"/>
            <a:ext cx="10140305" cy="1333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750"/>
              </a:lnSpc>
            </a:pPr>
            <a:r>
              <a:rPr lang="en-US" sz="3792" dirty="0">
                <a:solidFill>
                  <a:schemeClr val="bg2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Problem and Importance</a:t>
            </a:r>
          </a:p>
          <a:p>
            <a:pPr>
              <a:lnSpc>
                <a:spcPts val="4750"/>
              </a:lnSpc>
            </a:pPr>
            <a:r>
              <a:rPr lang="en-US" sz="1400" dirty="0">
                <a:solidFill>
                  <a:schemeClr val="bg2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Did you know that inefficient luggage storage on flights can lead to an average of 10 to 30 minutes minimum of extra boarding time per flight?</a:t>
            </a:r>
          </a:p>
          <a:p>
            <a:pPr>
              <a:lnSpc>
                <a:spcPts val="4750"/>
              </a:lnSpc>
            </a:pPr>
            <a:endParaRPr lang="en-US" sz="3792" dirty="0">
              <a:solidFill>
                <a:schemeClr val="bg2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  <a:p>
            <a:pPr>
              <a:lnSpc>
                <a:spcPts val="4750"/>
              </a:lnSpc>
            </a:pPr>
            <a:endParaRPr lang="en-GB" sz="4000" b="1" i="0" u="none" strike="noStrike" dirty="0">
              <a:solidFill>
                <a:srgbClr val="000000"/>
              </a:solidFill>
              <a:effectLst/>
            </a:endParaRPr>
          </a:p>
          <a:p>
            <a:pPr>
              <a:lnSpc>
                <a:spcPts val="4750"/>
              </a:lnSpc>
            </a:pPr>
            <a:endParaRPr lang="en-US" sz="3792" dirty="0"/>
          </a:p>
        </p:txBody>
      </p:sp>
      <p:sp>
        <p:nvSpPr>
          <p:cNvPr id="4" name="Shape 1"/>
          <p:cNvSpPr/>
          <p:nvPr/>
        </p:nvSpPr>
        <p:spPr>
          <a:xfrm>
            <a:off x="807244" y="4429225"/>
            <a:ext cx="462856" cy="462856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GB" sz="1500"/>
          </a:p>
        </p:txBody>
      </p:sp>
      <p:sp>
        <p:nvSpPr>
          <p:cNvPr id="5" name="Text 2"/>
          <p:cNvSpPr/>
          <p:nvPr/>
        </p:nvSpPr>
        <p:spPr>
          <a:xfrm>
            <a:off x="970260" y="4515445"/>
            <a:ext cx="136823" cy="290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50"/>
              </a:lnSpc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1475780" y="4429224"/>
            <a:ext cx="2711351" cy="302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875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Inefficient Storage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1038671" y="5160844"/>
            <a:ext cx="2720182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583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Current cabin storage systems cause boarding delays.</a:t>
            </a:r>
            <a:endParaRPr lang="en-US" sz="1583" dirty="0"/>
          </a:p>
        </p:txBody>
      </p:sp>
      <p:sp>
        <p:nvSpPr>
          <p:cNvPr id="8" name="Shape 5"/>
          <p:cNvSpPr/>
          <p:nvPr/>
        </p:nvSpPr>
        <p:spPr>
          <a:xfrm>
            <a:off x="4401642" y="4429225"/>
            <a:ext cx="462856" cy="462856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GB" sz="1500"/>
          </a:p>
        </p:txBody>
      </p:sp>
      <p:sp>
        <p:nvSpPr>
          <p:cNvPr id="9" name="Text 6"/>
          <p:cNvSpPr/>
          <p:nvPr/>
        </p:nvSpPr>
        <p:spPr>
          <a:xfrm>
            <a:off x="4518422" y="4515445"/>
            <a:ext cx="229195" cy="290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50"/>
              </a:lnSpc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5070177" y="4429225"/>
            <a:ext cx="2720182" cy="605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875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Passenger Frustration</a:t>
            </a:r>
            <a:endParaRPr lang="en-US" sz="1875" dirty="0"/>
          </a:p>
        </p:txBody>
      </p:sp>
      <p:sp>
        <p:nvSpPr>
          <p:cNvPr id="11" name="Text 8"/>
          <p:cNvSpPr/>
          <p:nvPr/>
        </p:nvSpPr>
        <p:spPr>
          <a:xfrm>
            <a:off x="4633019" y="5163801"/>
            <a:ext cx="2720182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583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Limited space leads to poor travel experience.</a:t>
            </a:r>
            <a:endParaRPr lang="en-US" sz="1583" dirty="0"/>
          </a:p>
        </p:txBody>
      </p:sp>
      <p:sp>
        <p:nvSpPr>
          <p:cNvPr id="12" name="Shape 9"/>
          <p:cNvSpPr/>
          <p:nvPr/>
        </p:nvSpPr>
        <p:spPr>
          <a:xfrm>
            <a:off x="7996040" y="4429225"/>
            <a:ext cx="462856" cy="462856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GB" sz="1500"/>
          </a:p>
        </p:txBody>
      </p:sp>
      <p:sp>
        <p:nvSpPr>
          <p:cNvPr id="13" name="Text 10"/>
          <p:cNvSpPr/>
          <p:nvPr/>
        </p:nvSpPr>
        <p:spPr>
          <a:xfrm>
            <a:off x="8110637" y="4515445"/>
            <a:ext cx="233561" cy="290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50"/>
              </a:lnSpc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8664575" y="4429225"/>
            <a:ext cx="2720182" cy="605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875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Operational Challenges</a:t>
            </a:r>
            <a:endParaRPr lang="en-US" sz="1875" dirty="0"/>
          </a:p>
        </p:txBody>
      </p:sp>
      <p:sp>
        <p:nvSpPr>
          <p:cNvPr id="15" name="Text 12"/>
          <p:cNvSpPr/>
          <p:nvPr/>
        </p:nvSpPr>
        <p:spPr>
          <a:xfrm>
            <a:off x="8227367" y="5160844"/>
            <a:ext cx="2720182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583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Airlines struggle with luggage </a:t>
            </a:r>
            <a:r>
              <a:rPr lang="en-US" sz="1583" dirty="0">
                <a:solidFill>
                  <a:schemeClr val="bg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management and boarding times.</a:t>
            </a:r>
            <a:endParaRPr lang="en-US" sz="1583" dirty="0">
              <a:solidFill>
                <a:schemeClr val="bg2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EBF4E4-D8FA-54FE-5F7F-8B1EC9D6658F}"/>
              </a:ext>
            </a:extLst>
          </p:cNvPr>
          <p:cNvSpPr/>
          <p:nvPr/>
        </p:nvSpPr>
        <p:spPr>
          <a:xfrm>
            <a:off x="10597992" y="6417230"/>
            <a:ext cx="1573530" cy="342900"/>
          </a:xfrm>
          <a:prstGeom prst="rect">
            <a:avLst/>
          </a:prstGeom>
          <a:solidFill>
            <a:srgbClr val="1127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183" y="342444"/>
            <a:ext cx="6424613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917"/>
              </a:lnSpc>
            </a:pPr>
            <a:r>
              <a:rPr lang="en-US" sz="3125" dirty="0">
                <a:solidFill>
                  <a:schemeClr val="bg2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Project Aims and Objectives</a:t>
            </a:r>
          </a:p>
          <a:p>
            <a:pPr>
              <a:lnSpc>
                <a:spcPct val="150000"/>
              </a:lnSpc>
            </a:pPr>
            <a:r>
              <a:rPr lang="en-US" sz="1330" dirty="0">
                <a:solidFill>
                  <a:schemeClr val="bg2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Aiming to optimise aircraft cabin carry-on luggage storage for improved efficiency and reduced time wastage.</a:t>
            </a:r>
          </a:p>
          <a:p>
            <a:pPr>
              <a:lnSpc>
                <a:spcPts val="3917"/>
              </a:lnSpc>
            </a:pPr>
            <a:endParaRPr lang="en-US" sz="3125" dirty="0"/>
          </a:p>
        </p:txBody>
      </p:sp>
      <p:sp>
        <p:nvSpPr>
          <p:cNvPr id="4" name="Shape 1"/>
          <p:cNvSpPr/>
          <p:nvPr/>
        </p:nvSpPr>
        <p:spPr>
          <a:xfrm>
            <a:off x="1084382" y="1753136"/>
            <a:ext cx="19050" cy="4658122"/>
          </a:xfrm>
          <a:prstGeom prst="roundRect">
            <a:avLst>
              <a:gd name="adj" fmla="val 134480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GB" sz="1500"/>
          </a:p>
        </p:txBody>
      </p:sp>
      <p:sp>
        <p:nvSpPr>
          <p:cNvPr id="5" name="Shape 2"/>
          <p:cNvSpPr/>
          <p:nvPr/>
        </p:nvSpPr>
        <p:spPr>
          <a:xfrm>
            <a:off x="1266994" y="2127786"/>
            <a:ext cx="597694" cy="19050"/>
          </a:xfrm>
          <a:prstGeom prst="roundRect">
            <a:avLst>
              <a:gd name="adj" fmla="val 134480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GB" sz="1500"/>
          </a:p>
        </p:txBody>
      </p:sp>
      <p:sp>
        <p:nvSpPr>
          <p:cNvPr id="6" name="Shape 3"/>
          <p:cNvSpPr/>
          <p:nvPr/>
        </p:nvSpPr>
        <p:spPr>
          <a:xfrm>
            <a:off x="901770" y="1945224"/>
            <a:ext cx="384274" cy="384274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GB" sz="1500"/>
          </a:p>
        </p:txBody>
      </p:sp>
      <p:sp>
        <p:nvSpPr>
          <p:cNvPr id="7" name="Text 4"/>
          <p:cNvSpPr/>
          <p:nvPr/>
        </p:nvSpPr>
        <p:spPr>
          <a:xfrm>
            <a:off x="1037105" y="2016760"/>
            <a:ext cx="113606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75"/>
              </a:lnSpc>
            </a:pPr>
            <a:r>
              <a:rPr lang="en-US" sz="1875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875" dirty="0"/>
          </a:p>
        </p:txBody>
      </p:sp>
      <p:sp>
        <p:nvSpPr>
          <p:cNvPr id="8" name="Text 5"/>
          <p:cNvSpPr/>
          <p:nvPr/>
        </p:nvSpPr>
        <p:spPr>
          <a:xfrm>
            <a:off x="2033211" y="1923892"/>
            <a:ext cx="2009279" cy="25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42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Primary Aim</a:t>
            </a:r>
            <a:endParaRPr lang="en-US" sz="1542" dirty="0"/>
          </a:p>
        </p:txBody>
      </p:sp>
      <p:sp>
        <p:nvSpPr>
          <p:cNvPr id="9" name="Text 6"/>
          <p:cNvSpPr/>
          <p:nvPr/>
        </p:nvSpPr>
        <p:spPr>
          <a:xfrm>
            <a:off x="2033211" y="2277408"/>
            <a:ext cx="5229126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333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Optimise carry-on luggage stowage using digital twin technology</a:t>
            </a:r>
          </a:p>
          <a:p>
            <a:pPr>
              <a:lnSpc>
                <a:spcPts val="2125"/>
              </a:lnSpc>
            </a:pPr>
            <a:r>
              <a:rPr lang="en-US" sz="1333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to reduce passenger waiting times and improve overall satisfaction.</a:t>
            </a:r>
          </a:p>
        </p:txBody>
      </p:sp>
      <p:sp>
        <p:nvSpPr>
          <p:cNvPr id="10" name="Shape 7"/>
          <p:cNvSpPr/>
          <p:nvPr/>
        </p:nvSpPr>
        <p:spPr>
          <a:xfrm>
            <a:off x="1266994" y="3266718"/>
            <a:ext cx="597694" cy="19050"/>
          </a:xfrm>
          <a:prstGeom prst="roundRect">
            <a:avLst>
              <a:gd name="adj" fmla="val 134480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GB" sz="1500"/>
          </a:p>
        </p:txBody>
      </p:sp>
      <p:sp>
        <p:nvSpPr>
          <p:cNvPr id="11" name="Shape 8"/>
          <p:cNvSpPr/>
          <p:nvPr/>
        </p:nvSpPr>
        <p:spPr>
          <a:xfrm>
            <a:off x="901770" y="3084156"/>
            <a:ext cx="384274" cy="384274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GB" sz="1500"/>
          </a:p>
        </p:txBody>
      </p:sp>
      <p:sp>
        <p:nvSpPr>
          <p:cNvPr id="12" name="Text 9"/>
          <p:cNvSpPr/>
          <p:nvPr/>
        </p:nvSpPr>
        <p:spPr>
          <a:xfrm>
            <a:off x="998706" y="3155692"/>
            <a:ext cx="190302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75"/>
              </a:lnSpc>
            </a:pPr>
            <a:r>
              <a:rPr lang="en-US" sz="1875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2033211" y="3062824"/>
            <a:ext cx="2009279" cy="25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42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Objective 1</a:t>
            </a:r>
            <a:endParaRPr lang="en-US" sz="1542" dirty="0"/>
          </a:p>
        </p:txBody>
      </p:sp>
      <p:sp>
        <p:nvSpPr>
          <p:cNvPr id="14" name="Text 11"/>
          <p:cNvSpPr/>
          <p:nvPr/>
        </p:nvSpPr>
        <p:spPr>
          <a:xfrm>
            <a:off x="2033211" y="3416341"/>
            <a:ext cx="5229126" cy="27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333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Develop a 3D digital twin model of cabin storage by early December 2024.</a:t>
            </a:r>
            <a:endParaRPr lang="en-US" sz="1333" dirty="0"/>
          </a:p>
        </p:txBody>
      </p:sp>
      <p:sp>
        <p:nvSpPr>
          <p:cNvPr id="15" name="Shape 12"/>
          <p:cNvSpPr/>
          <p:nvPr/>
        </p:nvSpPr>
        <p:spPr>
          <a:xfrm>
            <a:off x="1266994" y="4405650"/>
            <a:ext cx="597694" cy="19050"/>
          </a:xfrm>
          <a:prstGeom prst="roundRect">
            <a:avLst>
              <a:gd name="adj" fmla="val 134480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GB" sz="1500"/>
          </a:p>
        </p:txBody>
      </p:sp>
      <p:sp>
        <p:nvSpPr>
          <p:cNvPr id="16" name="Shape 13"/>
          <p:cNvSpPr/>
          <p:nvPr/>
        </p:nvSpPr>
        <p:spPr>
          <a:xfrm>
            <a:off x="901770" y="4223088"/>
            <a:ext cx="384274" cy="384274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GB" sz="1500"/>
          </a:p>
        </p:txBody>
      </p:sp>
      <p:sp>
        <p:nvSpPr>
          <p:cNvPr id="17" name="Text 14"/>
          <p:cNvSpPr/>
          <p:nvPr/>
        </p:nvSpPr>
        <p:spPr>
          <a:xfrm>
            <a:off x="996920" y="4294624"/>
            <a:ext cx="193873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75"/>
              </a:lnSpc>
            </a:pPr>
            <a:r>
              <a:rPr lang="en-US" sz="1875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875" dirty="0"/>
          </a:p>
        </p:txBody>
      </p:sp>
      <p:sp>
        <p:nvSpPr>
          <p:cNvPr id="18" name="Text 15"/>
          <p:cNvSpPr/>
          <p:nvPr/>
        </p:nvSpPr>
        <p:spPr>
          <a:xfrm>
            <a:off x="2033211" y="4201755"/>
            <a:ext cx="2009279" cy="25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42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Objective 2</a:t>
            </a:r>
            <a:endParaRPr lang="en-US" sz="1542" dirty="0"/>
          </a:p>
        </p:txBody>
      </p:sp>
      <p:sp>
        <p:nvSpPr>
          <p:cNvPr id="19" name="Text 16"/>
          <p:cNvSpPr/>
          <p:nvPr/>
        </p:nvSpPr>
        <p:spPr>
          <a:xfrm>
            <a:off x="2033211" y="4555272"/>
            <a:ext cx="5229126" cy="27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333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Collect and analyse data on luggage dimensions and passenger loading patterns.</a:t>
            </a:r>
            <a:endParaRPr lang="en-US" sz="1333" dirty="0"/>
          </a:p>
        </p:txBody>
      </p:sp>
      <p:sp>
        <p:nvSpPr>
          <p:cNvPr id="20" name="Shape 17"/>
          <p:cNvSpPr/>
          <p:nvPr/>
        </p:nvSpPr>
        <p:spPr>
          <a:xfrm>
            <a:off x="1266994" y="5544582"/>
            <a:ext cx="597694" cy="19050"/>
          </a:xfrm>
          <a:prstGeom prst="roundRect">
            <a:avLst>
              <a:gd name="adj" fmla="val 134480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GB" sz="1500"/>
          </a:p>
        </p:txBody>
      </p:sp>
      <p:sp>
        <p:nvSpPr>
          <p:cNvPr id="21" name="Shape 18"/>
          <p:cNvSpPr/>
          <p:nvPr/>
        </p:nvSpPr>
        <p:spPr>
          <a:xfrm>
            <a:off x="901770" y="5362020"/>
            <a:ext cx="384274" cy="384274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GB" sz="1500"/>
          </a:p>
        </p:txBody>
      </p:sp>
      <p:sp>
        <p:nvSpPr>
          <p:cNvPr id="22" name="Text 19"/>
          <p:cNvSpPr/>
          <p:nvPr/>
        </p:nvSpPr>
        <p:spPr>
          <a:xfrm>
            <a:off x="997019" y="5433556"/>
            <a:ext cx="193675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75"/>
              </a:lnSpc>
            </a:pPr>
            <a:r>
              <a:rPr lang="en-US" sz="1875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1875" dirty="0"/>
          </a:p>
        </p:txBody>
      </p:sp>
      <p:sp>
        <p:nvSpPr>
          <p:cNvPr id="23" name="Text 20"/>
          <p:cNvSpPr/>
          <p:nvPr/>
        </p:nvSpPr>
        <p:spPr>
          <a:xfrm>
            <a:off x="2033211" y="5340688"/>
            <a:ext cx="2009279" cy="25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42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Objective 3</a:t>
            </a:r>
            <a:endParaRPr lang="en-US" sz="1542" dirty="0"/>
          </a:p>
        </p:txBody>
      </p:sp>
      <p:sp>
        <p:nvSpPr>
          <p:cNvPr id="24" name="Text 21"/>
          <p:cNvSpPr/>
          <p:nvPr/>
        </p:nvSpPr>
        <p:spPr>
          <a:xfrm>
            <a:off x="2033211" y="5694204"/>
            <a:ext cx="5229126" cy="546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333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Simulate storage configurations, reducing boarding time 15% by early March 2025.</a:t>
            </a:r>
            <a:endParaRPr lang="en-US" sz="133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995" y="3233560"/>
            <a:ext cx="5721251" cy="605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750"/>
              </a:lnSpc>
            </a:pPr>
            <a:r>
              <a:rPr lang="en-US" sz="3792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Required Resources</a:t>
            </a:r>
            <a:endParaRPr lang="en-US" sz="3792" dirty="0"/>
          </a:p>
        </p:txBody>
      </p:sp>
      <p:sp>
        <p:nvSpPr>
          <p:cNvPr id="3" name="Text 1"/>
          <p:cNvSpPr/>
          <p:nvPr/>
        </p:nvSpPr>
        <p:spPr>
          <a:xfrm>
            <a:off x="1092994" y="4352846"/>
            <a:ext cx="2420442" cy="302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875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Human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092995" y="4861144"/>
            <a:ext cx="3190776" cy="1013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583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Knowledge in digital twin modelling, data analysis, and simulation engineering.</a:t>
            </a:r>
            <a:endParaRPr lang="en-US" sz="1583" dirty="0"/>
          </a:p>
        </p:txBody>
      </p:sp>
      <p:sp>
        <p:nvSpPr>
          <p:cNvPr id="5" name="Text 3"/>
          <p:cNvSpPr/>
          <p:nvPr/>
        </p:nvSpPr>
        <p:spPr>
          <a:xfrm>
            <a:off x="4791968" y="4352846"/>
            <a:ext cx="2420442" cy="302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875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Technological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4791969" y="4861144"/>
            <a:ext cx="3190776" cy="1345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583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CAD software (SolidWorks, AutoCAD), simulation tools (AnyLogic, Simulink), and data analysis platforms (Python, R).</a:t>
            </a:r>
            <a:endParaRPr lang="en-US" sz="1583" dirty="0"/>
          </a:p>
        </p:txBody>
      </p:sp>
      <p:sp>
        <p:nvSpPr>
          <p:cNvPr id="7" name="Text 5"/>
          <p:cNvSpPr/>
          <p:nvPr/>
        </p:nvSpPr>
        <p:spPr>
          <a:xfrm>
            <a:off x="8490942" y="4352846"/>
            <a:ext cx="2420442" cy="302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875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Financial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8490943" y="4861144"/>
            <a:ext cx="3190776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583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Budget for software licenses, hardware, and data collections.</a:t>
            </a:r>
            <a:endParaRPr lang="en-US" sz="1583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09EF3AEE-671A-0A17-F74E-44C19ACE9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7193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273D13A-F222-A5BF-4625-96C34908C1CD}"/>
              </a:ext>
            </a:extLst>
          </p:cNvPr>
          <p:cNvSpPr/>
          <p:nvPr/>
        </p:nvSpPr>
        <p:spPr>
          <a:xfrm>
            <a:off x="10618470" y="6454398"/>
            <a:ext cx="1573530" cy="342900"/>
          </a:xfrm>
          <a:prstGeom prst="rect">
            <a:avLst/>
          </a:prstGeom>
          <a:solidFill>
            <a:srgbClr val="1127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lendar with different colored squares&#10;&#10;Description automatically generated">
            <a:extLst>
              <a:ext uri="{FF2B5EF4-FFF2-40B4-BE49-F238E27FC236}">
                <a16:creationId xmlns:a16="http://schemas.microsoft.com/office/drawing/2014/main" id="{D69F3BE2-CFA8-5B76-7CE7-BB9FEFE14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18" y="1608078"/>
            <a:ext cx="10992563" cy="441198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4C3E16F-875B-9EE3-1EEF-A726E1368590}"/>
              </a:ext>
            </a:extLst>
          </p:cNvPr>
          <p:cNvSpPr/>
          <p:nvPr/>
        </p:nvSpPr>
        <p:spPr>
          <a:xfrm>
            <a:off x="10618470" y="6454398"/>
            <a:ext cx="1573530" cy="342900"/>
          </a:xfrm>
          <a:prstGeom prst="rect">
            <a:avLst/>
          </a:prstGeom>
          <a:solidFill>
            <a:srgbClr val="1127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C92FE6C9-9C81-327C-4EE9-B0C3C3DD769F}"/>
              </a:ext>
            </a:extLst>
          </p:cNvPr>
          <p:cNvSpPr/>
          <p:nvPr/>
        </p:nvSpPr>
        <p:spPr>
          <a:xfrm>
            <a:off x="732214" y="692924"/>
            <a:ext cx="3847008" cy="480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50"/>
              </a:lnSpc>
            </a:pPr>
            <a:r>
              <a:rPr lang="en-US" sz="3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Project Timeline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951936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7893</TotalTime>
  <Words>234</Words>
  <Application>Microsoft Macintosh PowerPoint</Application>
  <PresentationFormat>Widescreen</PresentationFormat>
  <Paragraphs>44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Aptos Display</vt:lpstr>
      <vt:lpstr>Arial</vt:lpstr>
      <vt:lpstr>Cabin</vt:lpstr>
      <vt:lpstr>Cabin Bold</vt:lpstr>
      <vt:lpstr>Cabin Medium</vt:lpstr>
      <vt:lpstr>Unbounded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Rizwan Khan</dc:creator>
  <cp:lastModifiedBy>Rizwan Khan</cp:lastModifiedBy>
  <cp:revision>1</cp:revision>
  <dcterms:created xsi:type="dcterms:W3CDTF">2024-10-22T09:43:21Z</dcterms:created>
  <dcterms:modified xsi:type="dcterms:W3CDTF">2024-10-27T22:33:32Z</dcterms:modified>
</cp:coreProperties>
</file>