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2"/>
    <p:restoredTop sz="96012"/>
  </p:normalViewPr>
  <p:slideViewPr>
    <p:cSldViewPr snapToGrid="0">
      <p:cViewPr>
        <p:scale>
          <a:sx n="99" d="100"/>
          <a:sy n="99" d="100"/>
        </p:scale>
        <p:origin x="13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86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01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58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16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91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9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14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14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62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549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813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8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964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89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E288-1633-C940-BA35-0DDA59E3AB1B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BCCE440-BCDA-0A4B-987A-5FB26A78A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91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5F56-F5D5-2BD2-8233-07E4827EC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effectLst/>
              </a:rPr>
              <a:t>Optimising Aircraft Carry-On Luggage Storage Using Digital Twin Technology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6326F-1179-551F-04B1-112AA131C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 Data-Driven Simulation Approach to Improving Aircraft Boarding Efficiency</a:t>
            </a:r>
          </a:p>
          <a:p>
            <a:pPr algn="ctr"/>
            <a:r>
              <a:rPr lang="en-GB" dirty="0">
                <a:solidFill>
                  <a:srgbClr val="000000"/>
                </a:solidFill>
              </a:rPr>
              <a:t>Speaker: Rizwan Khan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416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E142-352B-0EEA-91E6-8264B870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Aim: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To improve carry-on luggage storage efficiency in aircraft cabins by developing a realistic Digital Twin simulation of passenger boarding behaviours.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Why It Matters: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Boarding delays and luggage congestion lead to significant operational costs, frustrate passengers, and affect airline schedules.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Research shows that storage-related boarding delays alone can cost airlines thousands of pounds per day per route.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841B59-4BB2-2B72-8F9E-EEF39202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Aim and Context</a:t>
            </a:r>
          </a:p>
        </p:txBody>
      </p:sp>
    </p:spTree>
    <p:extLst>
      <p:ext uri="{BB962C8B-B14F-4D97-AF65-F5344CB8AC3E}">
        <p14:creationId xmlns:p14="http://schemas.microsoft.com/office/powerpoint/2010/main" val="7497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CBBC-A774-2E30-638B-6F9F98F7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How I Solved 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7D77-83B2-0E28-837E-CB15795C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effectLst/>
              </a:rPr>
              <a:t>My solution:</a:t>
            </a:r>
            <a:endParaRPr lang="en-GB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Created high-fidelity 3D cabin models.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Simulated real passenger behaviours.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Designed and tested multiple storage and boarding scenarios.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Analysed data to identify optimal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523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EC5F-272A-0091-DF4E-9CBA3533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 b="1">
                <a:effectLst/>
              </a:rPr>
              <a:t> Research and Foundation</a:t>
            </a:r>
            <a:endParaRPr lang="en-GB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D337-4600-3F77-98B9-986936234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89"/>
            <a:ext cx="2930517" cy="3880773"/>
          </a:xfrm>
        </p:spPr>
        <p:txBody>
          <a:bodyPr>
            <a:normAutofit/>
          </a:bodyPr>
          <a:lstStyle/>
          <a:p>
            <a:r>
              <a:rPr lang="en-GB">
                <a:effectLst/>
              </a:rPr>
              <a:t>Airlines' storage guidelines (sourced from MyBaggage).</a:t>
            </a:r>
          </a:p>
          <a:p>
            <a:r>
              <a:rPr lang="en-GB">
                <a:effectLst/>
              </a:rPr>
              <a:t>Passenger behaviour trends (YouGov popularity rankings).</a:t>
            </a:r>
          </a:p>
          <a:p>
            <a:r>
              <a:rPr lang="en-GB">
                <a:effectLst/>
              </a:rPr>
              <a:t>Simulation best practices (Digital Twin methodology).</a:t>
            </a:r>
          </a:p>
          <a:p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FBD14E-8D05-1CFC-3285-6DF7B562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548" y="1227132"/>
            <a:ext cx="7828868" cy="4403736"/>
          </a:xfrm>
          <a:prstGeom prst="rect">
            <a:avLst/>
          </a:prstGeom>
        </p:spPr>
      </p:pic>
      <p:pic>
        <p:nvPicPr>
          <p:cNvPr id="7" name="Picture 6" descr="A group of signs with blue and white text&#10;&#10;AI-generated content may be incorrect.">
            <a:extLst>
              <a:ext uri="{FF2B5EF4-FFF2-40B4-BE49-F238E27FC236}">
                <a16:creationId xmlns:a16="http://schemas.microsoft.com/office/drawing/2014/main" id="{67F5CE76-C05B-08C9-3477-D304391C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843" y="1227132"/>
            <a:ext cx="7828868" cy="440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4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CB61-7F0F-6A63-FF17-755AB084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52" y="609602"/>
            <a:ext cx="2938468" cy="5431762"/>
          </a:xfrm>
        </p:spPr>
        <p:txBody>
          <a:bodyPr anchor="ctr">
            <a:normAutofit/>
          </a:bodyPr>
          <a:lstStyle/>
          <a:p>
            <a:r>
              <a:rPr lang="en-GB" b="1" dirty="0">
                <a:effectLst/>
              </a:rPr>
              <a:t>Project Management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5EA4-3202-721D-5ABD-E4D099C8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889" y="609602"/>
            <a:ext cx="5424112" cy="3208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Managing a Complex Project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Trello board used for weekly sprint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Gantt charts tracked major milestones.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Risks mitigated through modular development and version control.</a:t>
            </a:r>
          </a:p>
          <a:p>
            <a:endParaRPr lang="en-GB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8D6A86E-71B9-0F96-067D-F73AA26EA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25" y="2833028"/>
            <a:ext cx="8381278" cy="3415370"/>
          </a:xfrm>
          <a:prstGeom prst="rect">
            <a:avLst/>
          </a:prstGeom>
        </p:spPr>
      </p:pic>
      <p:pic>
        <p:nvPicPr>
          <p:cNvPr id="9" name="Picture 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09B15C44-FB3B-5DD7-24DA-89E785B7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82" y="706524"/>
            <a:ext cx="7772400" cy="1322961"/>
          </a:xfrm>
          <a:prstGeom prst="rect">
            <a:avLst/>
          </a:prstGeom>
        </p:spPr>
      </p:pic>
      <p:pic>
        <p:nvPicPr>
          <p:cNvPr id="11" name="Picture 10" descr="A screenshot of a calendar&#10;&#10;AI-generated content may be incorrect.">
            <a:extLst>
              <a:ext uri="{FF2B5EF4-FFF2-40B4-BE49-F238E27FC236}">
                <a16:creationId xmlns:a16="http://schemas.microsoft.com/office/drawing/2014/main" id="{499DBA17-CEC5-DA2A-1F40-31E40B583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786" y="2317950"/>
            <a:ext cx="7772400" cy="1901757"/>
          </a:xfrm>
          <a:prstGeom prst="rect">
            <a:avLst/>
          </a:prstGeom>
        </p:spPr>
      </p:pic>
      <p:pic>
        <p:nvPicPr>
          <p:cNvPr id="13" name="Picture 1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4D889C7E-5F91-A42C-06F4-CF3EFDB0E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825" y="4346641"/>
            <a:ext cx="7772400" cy="19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9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692C-F160-2BA9-F682-E0C76CEA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Why These Scenarios?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F6CB0-583B-0864-6900-981C2B915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Scenario Selection Rationale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Designed to represent a realistic progression from ideal to chaotic boarding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Tests both </a:t>
            </a:r>
            <a:r>
              <a:rPr lang="en-GB" b="1" dirty="0">
                <a:effectLst/>
              </a:rPr>
              <a:t>structural improvements</a:t>
            </a:r>
            <a:r>
              <a:rPr lang="en-GB" dirty="0">
                <a:effectLst/>
              </a:rPr>
              <a:t> (bin design) and </a:t>
            </a:r>
            <a:r>
              <a:rPr lang="en-GB" b="1" dirty="0">
                <a:effectLst/>
              </a:rPr>
              <a:t>behavioural unpredictability</a:t>
            </a:r>
            <a:r>
              <a:rPr lang="en-GB" dirty="0">
                <a:effectLst/>
              </a:rPr>
              <a:t> (passenger mistakes).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Allows stakeholders — airlines, aircraft designers, and airport operators — to </a:t>
            </a:r>
            <a:r>
              <a:rPr lang="en-GB" b="1" dirty="0">
                <a:effectLst/>
              </a:rPr>
              <a:t>visually and measurably assess</a:t>
            </a:r>
            <a:r>
              <a:rPr lang="en-GB" dirty="0">
                <a:effectLst/>
              </a:rPr>
              <a:t>:</a:t>
            </a:r>
            <a:endParaRPr lang="en-GB" dirty="0"/>
          </a:p>
          <a:p>
            <a:pPr marL="400050" lvl="1" indent="0">
              <a:buNone/>
            </a:pPr>
            <a:r>
              <a:rPr lang="en-GB" dirty="0">
                <a:effectLst/>
              </a:rPr>
              <a:t>- How well layout upgrade improve capacity and speed.</a:t>
            </a:r>
            <a:br>
              <a:rPr lang="en-GB" dirty="0">
                <a:effectLst/>
              </a:rPr>
            </a:br>
            <a:r>
              <a:rPr lang="en-GB" dirty="0"/>
              <a:t>- </a:t>
            </a:r>
            <a:r>
              <a:rPr lang="en-GB" dirty="0">
                <a:effectLst/>
              </a:rPr>
              <a:t>How human behaviour impacts operational performance.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- Whether improved designs are resilient under real-world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Provides </a:t>
            </a:r>
            <a:r>
              <a:rPr lang="en-GB" b="1" dirty="0">
                <a:effectLst/>
              </a:rPr>
              <a:t>evidence-based insights</a:t>
            </a:r>
            <a:r>
              <a:rPr lang="en-GB" dirty="0">
                <a:effectLst/>
              </a:rPr>
              <a:t> for purchasing decisions, cabin redesigns, and boarding policy changes.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6345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6D8DF-EA81-443D-026A-262C67DE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i="0" u="none" strike="noStrike" dirty="0">
                <a:solidFill>
                  <a:schemeClr val="bg1"/>
                </a:solidFill>
                <a:effectLst/>
              </a:rPr>
              <a:t>Measuring Boarding Time and Storage Efficiency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286B3218-FACB-9AC6-23B1-159BD726D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08" y="884764"/>
            <a:ext cx="6512827" cy="5080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4832B1-6B3D-5658-BCF0-989F0325CD95}"/>
              </a:ext>
            </a:extLst>
          </p:cNvPr>
          <p:cNvSpPr txBox="1"/>
          <p:nvPr/>
        </p:nvSpPr>
        <p:spPr>
          <a:xfrm>
            <a:off x="7181725" y="2837329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Recorded total suitcase boarding times for each scenario (efficiency comparison)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Measured storage success rates based on bin utilisation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Chose these metrics because delays and storage failures are key airline operational issues</a:t>
            </a:r>
          </a:p>
        </p:txBody>
      </p:sp>
    </p:spTree>
    <p:extLst>
      <p:ext uri="{BB962C8B-B14F-4D97-AF65-F5344CB8AC3E}">
        <p14:creationId xmlns:p14="http://schemas.microsoft.com/office/powerpoint/2010/main" val="2357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39187-0197-4C1D-BE4A-06B353C7B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0FD730-D6BC-440A-89CF-7AA0C22C2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82DE6-64CB-4577-89E8-47941290A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ABD17EF-A676-4770-A8C8-E83BA0230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80D4582-A9DE-4A6E-8537-EFC4F860C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66B8CF3-0959-4E8D-8F3A-AF62F21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97D4D559-2783-4E84-BB73-7F51D0235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8834FE36-E841-40B5-9465-1CFC99ED5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A4197A1-AE79-4DC1-9E3A-845B40BA8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26F6688-CBD0-42EE-9B90-25100FE89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F23F9BB-FC2E-48BA-8E63-A4436C28D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BECA0F-99BD-297A-A7C0-2944085F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9" y="4858797"/>
            <a:ext cx="4763069" cy="131764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GB" sz="3200" b="1" i="0" u="none" strike="noStrike" dirty="0">
                <a:solidFill>
                  <a:schemeClr val="tx1"/>
                </a:solidFill>
                <a:effectLst/>
              </a:rPr>
              <a:t>Performance Gains: Faster Boarding and Higher Capacity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71A406-3CB7-4E4D-B434-24E6AA4F3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1772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9F0B4-A0C0-3B68-5536-DAF9BEABC53D}"/>
              </a:ext>
            </a:extLst>
          </p:cNvPr>
          <p:cNvSpPr txBox="1"/>
          <p:nvPr/>
        </p:nvSpPr>
        <p:spPr>
          <a:xfrm>
            <a:off x="5372670" y="4633675"/>
            <a:ext cx="6110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OptimisedCabin increased storage capacity by </a:t>
            </a:r>
            <a:r>
              <a:rPr lang="en-GB" b="1" dirty="0"/>
              <a:t>25–30%</a:t>
            </a:r>
            <a:r>
              <a:rPr lang="en-GB" dirty="0"/>
              <a:t> (vs CurrentCabin)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Boarding times reduced by up to </a:t>
            </a:r>
            <a:r>
              <a:rPr lang="en-GB" b="1" dirty="0"/>
              <a:t>18%</a:t>
            </a:r>
            <a:r>
              <a:rPr lang="en-GB" dirty="0"/>
              <a:t>, even under randomised conditions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Metrics chosen because they solve critical airline pain points: space constraints and boarding delays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1" name="Picture 10" descr="A graph with many rows of black and white text&#10;&#10;AI-generated content may be incorrect.">
            <a:extLst>
              <a:ext uri="{FF2B5EF4-FFF2-40B4-BE49-F238E27FC236}">
                <a16:creationId xmlns:a16="http://schemas.microsoft.com/office/drawing/2014/main" id="{B6372D70-1587-B177-A4F5-43D562D5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" y="25855"/>
            <a:ext cx="12153090" cy="24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8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3940C-3771-0A82-C05B-6AF5670F1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 b="1" i="0" u="none" strike="noStrike" dirty="0">
                <a:solidFill>
                  <a:schemeClr val="bg1"/>
                </a:solidFill>
                <a:effectLst/>
                <a:latin typeface="-webkit-standard"/>
              </a:rPr>
              <a:t>Real-World Benefits for Airlines and Aircraft Designers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graph with red and yellow lines&#10;&#10;AI-generated content may be incorrect.">
            <a:extLst>
              <a:ext uri="{FF2B5EF4-FFF2-40B4-BE49-F238E27FC236}">
                <a16:creationId xmlns:a16="http://schemas.microsoft.com/office/drawing/2014/main" id="{6050359A-2897-40AE-E383-6BF90F0FA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71" y="1487157"/>
            <a:ext cx="6140215" cy="388368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822CF4-CAC0-248B-60A3-70BE1470C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Faster boarding = lower turnaround costs and improved schedule reliability</a:t>
            </a:r>
          </a:p>
          <a:p>
            <a:r>
              <a:rPr lang="en-GB" dirty="0">
                <a:solidFill>
                  <a:schemeClr val="bg1"/>
                </a:solidFill>
              </a:rPr>
              <a:t>Higher bin capacity = fewer last-minute baggage removals</a:t>
            </a:r>
          </a:p>
          <a:p>
            <a:r>
              <a:rPr lang="en-GB" dirty="0">
                <a:solidFill>
                  <a:schemeClr val="bg1"/>
                </a:solidFill>
              </a:rPr>
              <a:t>Data-backed results create a low-risk upgrade path for stakeholders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15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6724-CDAE-B106-BEBB-0A9E1DD8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effectLst/>
              </a:rPr>
              <a:t>Final Recommendation &amp; Industry Opportunities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7593F-C7A9-FF24-2261-395F7B67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Digital Twin simulations proved that optimised bin designs reduce delays, even under boarding chaos.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Layout upgrades offer measurable operational gains and customer experience benefits.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Clear next steps:</a:t>
            </a:r>
            <a:endParaRPr lang="en-GB" dirty="0"/>
          </a:p>
          <a:p>
            <a:pPr marL="400050" lvl="1" indent="0">
              <a:buNone/>
            </a:pPr>
            <a:r>
              <a:rPr lang="en-GB" dirty="0">
                <a:effectLst/>
              </a:rPr>
              <a:t>- Prototype testing of optimised cabin bins in real aircraft.</a:t>
            </a:r>
            <a:br>
              <a:rPr lang="en-GB" dirty="0">
                <a:effectLst/>
              </a:rPr>
            </a:br>
            <a:r>
              <a:rPr lang="en-GB" dirty="0"/>
              <a:t>- </a:t>
            </a:r>
            <a:r>
              <a:rPr lang="en-GB" dirty="0">
                <a:effectLst/>
              </a:rPr>
              <a:t>Integration of simulation into airline layout planning.</a:t>
            </a:r>
            <a:br>
              <a:rPr lang="en-GB" dirty="0">
                <a:effectLst/>
              </a:rPr>
            </a:br>
            <a:r>
              <a:rPr lang="en-GB" dirty="0"/>
              <a:t>- </a:t>
            </a:r>
            <a:r>
              <a:rPr lang="en-GB" dirty="0">
                <a:effectLst/>
              </a:rPr>
              <a:t>Collaboration with design teams on implementation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Stakeholder outcome: A validated pathway to faster boarding, lower costs, and improved service.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448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96C5-ED6E-CFCF-4812-CBDB1151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FD8A1-E329-43B3-A415-2A6E28CA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MyBaggage.com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Airline carry-on baggage sizes and weight policies</a:t>
            </a:r>
          </a:p>
          <a:p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YouGov.co.uk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Airline popularity data and passenger behaviour insights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Airline-specific visuals sourced from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Emirates, EasyJet, Virgin Atlantic, Jet2, Qantas, Aer Lingus, TUI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via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MyBaggage.com</a:t>
            </a:r>
            <a:br>
              <a:rPr lang="en-GB" dirty="0"/>
            </a:b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(All sources accessed and cross-checked as of April 2025)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02217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1249</TotalTime>
  <Words>547</Words>
  <Application>Microsoft Macintosh PowerPoint</Application>
  <PresentationFormat>Widescreen</PresentationFormat>
  <Paragraphs>50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Arial</vt:lpstr>
      <vt:lpstr>Trebuchet MS</vt:lpstr>
      <vt:lpstr>Wingdings 3</vt:lpstr>
      <vt:lpstr>Facet</vt:lpstr>
      <vt:lpstr>Optimising Aircraft Carry-On Luggage Storage Using Digital Twin Technology</vt:lpstr>
      <vt:lpstr>Project Aim and Context</vt:lpstr>
      <vt:lpstr>How I Solved It</vt:lpstr>
      <vt:lpstr> Research and Foundation</vt:lpstr>
      <vt:lpstr>Project Management Approach</vt:lpstr>
      <vt:lpstr>Why These Scenarios?</vt:lpstr>
      <vt:lpstr>Measuring Boarding Time and Storage Efficiency</vt:lpstr>
      <vt:lpstr>Performance Gains: Faster Boarding and Higher Capacity</vt:lpstr>
      <vt:lpstr>Real-World Benefits for Airlines and Aircraft Designers</vt:lpstr>
      <vt:lpstr>Final Recommendation &amp; Industry Opportunities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Rizwan Khan</dc:creator>
  <cp:lastModifiedBy>Rizwan Khan</cp:lastModifiedBy>
  <cp:revision>3</cp:revision>
  <dcterms:created xsi:type="dcterms:W3CDTF">2025-04-29T13:34:33Z</dcterms:created>
  <dcterms:modified xsi:type="dcterms:W3CDTF">2025-04-30T10:23:38Z</dcterms:modified>
</cp:coreProperties>
</file>