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7" r:id="rId7"/>
    <p:sldId id="263" r:id="rId8"/>
    <p:sldId id="268" r:id="rId9"/>
    <p:sldId id="262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9075E-594F-C640-A301-F94548D76CF2}" v="67" dt="2025-01-17T14:51:20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48"/>
  </p:normalViewPr>
  <p:slideViewPr>
    <p:cSldViewPr snapToGrid="0">
      <p:cViewPr varScale="1">
        <p:scale>
          <a:sx n="112" d="100"/>
          <a:sy n="112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Khan (Student)" userId="6d1efeaa-879e-41d6-bec0-b95c2258027f" providerId="ADAL" clId="{0889075E-594F-C640-A301-F94548D76CF2}"/>
    <pc:docChg chg="undo custSel addSld modSld">
      <pc:chgData name="Rizwan Khan (Student)" userId="6d1efeaa-879e-41d6-bec0-b95c2258027f" providerId="ADAL" clId="{0889075E-594F-C640-A301-F94548D76CF2}" dt="2025-01-17T14:59:05.886" v="1008"/>
      <pc:docMkLst>
        <pc:docMk/>
      </pc:docMkLst>
      <pc:sldChg chg="addSp delSp modSp mod">
        <pc:chgData name="Rizwan Khan (Student)" userId="6d1efeaa-879e-41d6-bec0-b95c2258027f" providerId="ADAL" clId="{0889075E-594F-C640-A301-F94548D76CF2}" dt="2025-01-17T14:52:21.092" v="995" actId="207"/>
        <pc:sldMkLst>
          <pc:docMk/>
          <pc:sldMk cId="3899622815" sldId="263"/>
        </pc:sldMkLst>
        <pc:graphicFrameChg chg="add del mod modGraphic">
          <ac:chgData name="Rizwan Khan (Student)" userId="6d1efeaa-879e-41d6-bec0-b95c2258027f" providerId="ADAL" clId="{0889075E-594F-C640-A301-F94548D76CF2}" dt="2025-01-17T14:19:17.162" v="664" actId="21"/>
          <ac:graphicFrameMkLst>
            <pc:docMk/>
            <pc:sldMk cId="3899622815" sldId="263"/>
            <ac:graphicFrameMk id="3" creationId="{42F7A73C-E405-5BCE-788F-8698636AA41A}"/>
          </ac:graphicFrameMkLst>
        </pc:graphicFrameChg>
        <pc:graphicFrameChg chg="add">
          <ac:chgData name="Rizwan Khan (Student)" userId="6d1efeaa-879e-41d6-bec0-b95c2258027f" providerId="ADAL" clId="{0889075E-594F-C640-A301-F94548D76CF2}" dt="2025-01-17T14:35:33.087" v="714"/>
          <ac:graphicFrameMkLst>
            <pc:docMk/>
            <pc:sldMk cId="3899622815" sldId="263"/>
            <ac:graphicFrameMk id="4" creationId="{75840495-9983-8639-611C-11D33240C521}"/>
          </ac:graphicFrameMkLst>
        </pc:graphicFrameChg>
        <pc:graphicFrameChg chg="add">
          <ac:chgData name="Rizwan Khan (Student)" userId="6d1efeaa-879e-41d6-bec0-b95c2258027f" providerId="ADAL" clId="{0889075E-594F-C640-A301-F94548D76CF2}" dt="2025-01-17T14:35:39.062" v="715"/>
          <ac:graphicFrameMkLst>
            <pc:docMk/>
            <pc:sldMk cId="3899622815" sldId="263"/>
            <ac:graphicFrameMk id="5" creationId="{AE588DCB-1AFF-D34B-67D3-9E00CD78262A}"/>
          </ac:graphicFrameMkLst>
        </pc:graphicFrameChg>
        <pc:graphicFrameChg chg="mod modGraphic">
          <ac:chgData name="Rizwan Khan (Student)" userId="6d1efeaa-879e-41d6-bec0-b95c2258027f" providerId="ADAL" clId="{0889075E-594F-C640-A301-F94548D76CF2}" dt="2025-01-17T14:52:21.092" v="995" actId="207"/>
          <ac:graphicFrameMkLst>
            <pc:docMk/>
            <pc:sldMk cId="3899622815" sldId="263"/>
            <ac:graphicFrameMk id="7" creationId="{6F21F3CF-8105-39D8-BF4E-3BDDA2CDF1BF}"/>
          </ac:graphicFrameMkLst>
        </pc:graphicFrameChg>
      </pc:sldChg>
      <pc:sldChg chg="modSp mod">
        <pc:chgData name="Rizwan Khan (Student)" userId="6d1efeaa-879e-41d6-bec0-b95c2258027f" providerId="ADAL" clId="{0889075E-594F-C640-A301-F94548D76CF2}" dt="2025-01-17T14:16:41.535" v="647" actId="113"/>
        <pc:sldMkLst>
          <pc:docMk/>
          <pc:sldMk cId="445549259" sldId="267"/>
        </pc:sldMkLst>
        <pc:spChg chg="mod">
          <ac:chgData name="Rizwan Khan (Student)" userId="6d1efeaa-879e-41d6-bec0-b95c2258027f" providerId="ADAL" clId="{0889075E-594F-C640-A301-F94548D76CF2}" dt="2025-01-17T14:16:41.535" v="647" actId="113"/>
          <ac:spMkLst>
            <pc:docMk/>
            <pc:sldMk cId="445549259" sldId="267"/>
            <ac:spMk id="3" creationId="{163326CB-82CB-0216-8BB7-E2BD53FC6494}"/>
          </ac:spMkLst>
        </pc:spChg>
        <pc:spChg chg="mod">
          <ac:chgData name="Rizwan Khan (Student)" userId="6d1efeaa-879e-41d6-bec0-b95c2258027f" providerId="ADAL" clId="{0889075E-594F-C640-A301-F94548D76CF2}" dt="2025-01-17T14:16:38.310" v="645" actId="113"/>
          <ac:spMkLst>
            <pc:docMk/>
            <pc:sldMk cId="445549259" sldId="267"/>
            <ac:spMk id="4" creationId="{BDF85551-466A-2F4D-643C-B2C5F55468EA}"/>
          </ac:spMkLst>
        </pc:spChg>
      </pc:sldChg>
      <pc:sldChg chg="modSp new mod">
        <pc:chgData name="Rizwan Khan (Student)" userId="6d1efeaa-879e-41d6-bec0-b95c2258027f" providerId="ADAL" clId="{0889075E-594F-C640-A301-F94548D76CF2}" dt="2025-01-17T14:59:05.886" v="1008"/>
        <pc:sldMkLst>
          <pc:docMk/>
          <pc:sldMk cId="4156031216" sldId="269"/>
        </pc:sldMkLst>
        <pc:spChg chg="mod">
          <ac:chgData name="Rizwan Khan (Student)" userId="6d1efeaa-879e-41d6-bec0-b95c2258027f" providerId="ADAL" clId="{0889075E-594F-C640-A301-F94548D76CF2}" dt="2025-01-17T14:10:59.231" v="18" actId="20577"/>
          <ac:spMkLst>
            <pc:docMk/>
            <pc:sldMk cId="4156031216" sldId="269"/>
            <ac:spMk id="2" creationId="{4BD02CDF-D1E2-7EB2-F6C2-BE5CD345ACA8}"/>
          </ac:spMkLst>
        </pc:spChg>
        <pc:spChg chg="mod">
          <ac:chgData name="Rizwan Khan (Student)" userId="6d1efeaa-879e-41d6-bec0-b95c2258027f" providerId="ADAL" clId="{0889075E-594F-C640-A301-F94548D76CF2}" dt="2025-01-17T14:59:05.886" v="1008"/>
          <ac:spMkLst>
            <pc:docMk/>
            <pc:sldMk cId="4156031216" sldId="269"/>
            <ac:spMk id="3" creationId="{87455D07-BDFB-A734-B863-6C60FD9AA2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235EA-0577-C02D-74FC-21CA6B3E9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52E8E-78C5-2818-CD2B-CC1973A3E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D8592-8525-0F30-C697-5840EBBF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2E304-9BAB-6750-4C19-386A1A9E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4CFBA-3926-8466-47CF-29285724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59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EA1F-A29B-987C-D3AB-8B0D0CC6A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6D9D7-521C-1CC7-FC07-B308AC159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B359-C612-0922-584A-A87E90A0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1A0D2-BE1B-2FFB-8A9E-8A789F34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504B-5BC5-890B-9EB8-8BE05620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13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DADD-CA7A-F7D1-A67F-31DD3362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D9C2F-4C19-2089-FA5B-98707454B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27BED-0C7B-FB45-B232-413118F2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10DD-D96B-40ED-1CE6-2918AD07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03D86-42BB-E50A-582C-C0D85F4C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2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875E-70A2-D065-C03B-6DB5CAB0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AF56-12F4-E22E-27C1-1A7453F81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118BB-9F10-89A0-C148-851760A7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06B8E-A2B6-B98B-14EE-D90AAFD5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ABE30-C014-5011-25A7-BF085864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9B28A-E9A2-90F5-DECD-E46B0801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51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35549-0E99-DE7D-E9B1-623289FA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746BB-4917-0392-92F6-64281BA6B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C8352-4E7A-E909-AED2-3DEED4B8D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0DBA9-DDA8-3550-C143-E80751F16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3A920-8A83-82E8-C62C-BFA4F9CE7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5614F2-373F-79F7-5AE4-C5EC73FC2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9EB217-2CC1-FB0C-F9E6-1CD6AB5F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70AA5-EB39-0BDB-AF77-5C7358CC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01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F831-9E5D-5515-4C1D-FDC411BD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895A1-219A-DB16-7F96-8C4BC39B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3D6BC-A26C-D657-D985-EB2B4275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FFBF7-64DA-09C9-E421-5F3D96BD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3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22ACD-FD9A-515D-7E00-83D74C25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80074-EA6D-A748-CCA2-4887DF92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250F9-D28E-237E-53E1-A54F0F80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7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4426-5672-3F35-A087-6336D5845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6DE1A-D0D2-8689-1A59-DB2A06E6A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B4046-2AD6-C20B-9115-4FA6A0820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36104-AC08-075B-D971-823604AE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E7F7D-1DDB-DD71-D455-5226A28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388C8-733D-2BDF-4430-2F1D6563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0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52AE-C79C-EDAB-44EA-C4D17665B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D95C5-B59D-349D-37FC-B480A9419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62C0F-FA6F-FFCA-A57E-A76771E53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8A959-1358-EB0E-03EF-686E1EB2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8634C-F9E0-30C8-524E-A883E180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46857-89DA-17FF-072E-239675CE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09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F905-6859-6607-9E07-12B917C5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A771D-3628-974E-D9EB-8F5FF78A2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F5AF0-1B4A-5570-E4E4-3B30EA33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B91E-C38E-D18E-F2BE-84274D63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4F1BC-6BAC-03F5-09AE-E3C335BB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71BC76-7278-2956-9BB0-19AFA7DC3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68692-6BE5-3137-D275-AAB759474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6D80E-F1D8-7B5E-44BD-73FE9901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733A-CB06-B83A-694D-ABB58A46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9731B-3F05-9D5B-D231-FA792AA1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26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D18F3-75DE-605B-C5EB-3E1B6B65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1A612-BFFD-7DA0-53BC-E77F8189D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D2D9-54F9-A463-86BC-541614186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9AA50-074D-B54A-A193-7396A1F662B2}" type="datetimeFigureOut">
              <a:rPr lang="en-GB" smtClean="0"/>
              <a:t>17/01/2025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F8262-5614-8979-1119-39329741D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C08E-43C5-AA2E-2DC3-E2CC0421C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B507A-0951-6143-B388-A6F60B19ED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09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96B4-D475-37E9-914A-62E20F779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Aircraft Optimisation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FF457-6545-7887-EAC9-CD35CF98EF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Milestone 2</a:t>
            </a:r>
          </a:p>
        </p:txBody>
      </p:sp>
    </p:spTree>
    <p:extLst>
      <p:ext uri="{BB962C8B-B14F-4D97-AF65-F5344CB8AC3E}">
        <p14:creationId xmlns:p14="http://schemas.microsoft.com/office/powerpoint/2010/main" val="32690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A5D4-8B46-61E9-BFE5-8A8F5F04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 Overall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CC0500-AA5B-CE21-B190-EF0A0A04C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2717"/>
            <a:ext cx="10515600" cy="3877154"/>
          </a:xfrm>
        </p:spPr>
      </p:pic>
    </p:spTree>
    <p:extLst>
      <p:ext uri="{BB962C8B-B14F-4D97-AF65-F5344CB8AC3E}">
        <p14:creationId xmlns:p14="http://schemas.microsoft.com/office/powerpoint/2010/main" val="98345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350B-E4D2-581E-6105-658A2D3B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 Current Progress</a:t>
            </a:r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92A1D41A-8261-12E4-A18E-35D91E5A4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08874"/>
            <a:ext cx="10515600" cy="2584840"/>
          </a:xfrm>
        </p:spPr>
      </p:pic>
    </p:spTree>
    <p:extLst>
      <p:ext uri="{BB962C8B-B14F-4D97-AF65-F5344CB8AC3E}">
        <p14:creationId xmlns:p14="http://schemas.microsoft.com/office/powerpoint/2010/main" val="311391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8336-A0ED-7463-C353-A2B819B2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 Expected Progress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2602804A-1986-FB5D-F615-09603BBEB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63167"/>
            <a:ext cx="10515600" cy="2476254"/>
          </a:xfrm>
        </p:spPr>
      </p:pic>
    </p:spTree>
    <p:extLst>
      <p:ext uri="{BB962C8B-B14F-4D97-AF65-F5344CB8AC3E}">
        <p14:creationId xmlns:p14="http://schemas.microsoft.com/office/powerpoint/2010/main" val="233490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4A0A-9CBF-BB2E-716D-22DEDE3D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Trello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A445C12-76DF-DD61-59B1-D995AD447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78" y="1825625"/>
            <a:ext cx="9860243" cy="4351338"/>
          </a:xfrm>
        </p:spPr>
      </p:pic>
    </p:spTree>
    <p:extLst>
      <p:ext uri="{BB962C8B-B14F-4D97-AF65-F5344CB8AC3E}">
        <p14:creationId xmlns:p14="http://schemas.microsoft.com/office/powerpoint/2010/main" val="332886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99FA-32C3-6176-3E25-A2A9060D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Trello – Meetings and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26CB-82CB-0216-8BB7-E2BD53FC6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2520" cy="4351338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en-GB" sz="2500" b="1" dirty="0"/>
              <a:t>Meeting 1: </a:t>
            </a:r>
          </a:p>
          <a:p>
            <a:pPr lvl="1"/>
            <a:r>
              <a:rPr lang="en-GB" sz="2200" b="1" i="0" dirty="0">
                <a:effectLst/>
                <a:latin typeface="-apple-system"/>
              </a:rPr>
              <a:t>Briefing</a:t>
            </a:r>
            <a:endParaRPr lang="en-GB" sz="2200" b="0" i="0" dirty="0">
              <a:effectLst/>
              <a:latin typeface="-apple-system"/>
            </a:endParaRPr>
          </a:p>
          <a:p>
            <a:pPr lvl="2"/>
            <a:r>
              <a:rPr lang="en-GB" b="0" i="0" dirty="0">
                <a:effectLst/>
                <a:latin typeface="-apple-system"/>
              </a:rPr>
              <a:t>Explain the overview of the project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Explain what outcomes are to be expected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Explain the purpose of the project</a:t>
            </a:r>
          </a:p>
          <a:p>
            <a:pPr lvl="1"/>
            <a:r>
              <a:rPr lang="en-GB" sz="2200" b="1" i="0" dirty="0">
                <a:effectLst/>
                <a:latin typeface="-apple-system"/>
              </a:rPr>
              <a:t>Feedback</a:t>
            </a:r>
            <a:endParaRPr lang="en-GB" sz="2200" b="0" i="0" dirty="0">
              <a:effectLst/>
              <a:latin typeface="-apple-system"/>
            </a:endParaRPr>
          </a:p>
          <a:p>
            <a:pPr lvl="2"/>
            <a:r>
              <a:rPr lang="en-GB" b="0" i="0" dirty="0">
                <a:effectLst/>
                <a:latin typeface="-apple-system"/>
              </a:rPr>
              <a:t>Potential problems regarding scale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Potential errors regarding simulations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Create a GitHub Project Repository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Create Trello to organise tasks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Create Gantt Charts for the project</a:t>
            </a:r>
            <a:endParaRPr lang="en-GB" dirty="0"/>
          </a:p>
          <a:p>
            <a:pPr marL="0" indent="0">
              <a:buNone/>
            </a:pPr>
            <a:r>
              <a:rPr lang="en-GB" sz="2500" b="1" dirty="0"/>
              <a:t>Meeting 2:</a:t>
            </a:r>
          </a:p>
          <a:p>
            <a:pPr lvl="1"/>
            <a:r>
              <a:rPr lang="en-GB" sz="2200" b="1" i="0" dirty="0">
                <a:effectLst/>
                <a:latin typeface="-apple-system"/>
              </a:rPr>
              <a:t>Briefing</a:t>
            </a:r>
            <a:endParaRPr lang="en-GB" sz="2200" b="0" i="0" dirty="0">
              <a:effectLst/>
              <a:latin typeface="-apple-system"/>
            </a:endParaRPr>
          </a:p>
          <a:p>
            <a:pPr lvl="2"/>
            <a:r>
              <a:rPr lang="en-GB" b="0" i="0" dirty="0">
                <a:effectLst/>
                <a:latin typeface="-apple-system"/>
              </a:rPr>
              <a:t>Show the Project Overview document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Explain the purpose of the project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Discuss the solutions to the last meeting's problems</a:t>
            </a:r>
          </a:p>
          <a:p>
            <a:pPr lvl="1"/>
            <a:r>
              <a:rPr lang="en-GB" sz="2200" b="1" i="0" dirty="0">
                <a:effectLst/>
                <a:latin typeface="-apple-system"/>
              </a:rPr>
              <a:t>Feedback</a:t>
            </a:r>
            <a:endParaRPr lang="en-GB" sz="2200" b="0" i="0" dirty="0">
              <a:effectLst/>
              <a:latin typeface="-apple-system"/>
            </a:endParaRPr>
          </a:p>
          <a:p>
            <a:pPr lvl="2"/>
            <a:r>
              <a:rPr lang="en-GB" b="0" i="0" dirty="0">
                <a:effectLst/>
                <a:latin typeface="-apple-system"/>
              </a:rPr>
              <a:t>Finalise Trello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Finish making the GitHub Project Repository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Compile Gantt Charts</a:t>
            </a:r>
          </a:p>
          <a:p>
            <a:pPr lvl="2"/>
            <a:r>
              <a:rPr lang="en-GB" b="0" i="0" dirty="0">
                <a:effectLst/>
                <a:latin typeface="-apple-system"/>
              </a:rPr>
              <a:t>Bring all documents and completed tasks to the next meeting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85551-466A-2F4D-643C-B2C5F55468EA}"/>
              </a:ext>
            </a:extLst>
          </p:cNvPr>
          <p:cNvSpPr txBox="1"/>
          <p:nvPr/>
        </p:nvSpPr>
        <p:spPr>
          <a:xfrm>
            <a:off x="6938010" y="1825625"/>
            <a:ext cx="4114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Meeting 3: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b="1" i="0" dirty="0">
                <a:effectLst/>
                <a:latin typeface="-apple-system"/>
              </a:rPr>
              <a:t>Briefing</a:t>
            </a:r>
            <a:endParaRPr lang="en-GB" sz="1200" b="0" i="0" dirty="0"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latin typeface="-apple-system"/>
              </a:rPr>
              <a:t>Go through Trello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latin typeface="-apple-system"/>
              </a:rPr>
              <a:t>Show GitHub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latin typeface="-apple-system"/>
              </a:rPr>
              <a:t>Show Gantt 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b="1" i="0" dirty="0">
                <a:effectLst/>
                <a:latin typeface="-apple-system"/>
              </a:rPr>
              <a:t>Feedback</a:t>
            </a:r>
            <a:endParaRPr lang="en-GB" sz="1200" b="0" i="0" dirty="0">
              <a:effectLst/>
              <a:latin typeface="-apple-system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b="0" i="0" dirty="0">
                <a:effectLst/>
                <a:latin typeface="-apple-system"/>
              </a:rPr>
              <a:t>Justification for 3D software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b="0" i="0" dirty="0">
                <a:effectLst/>
                <a:latin typeface="-apple-system"/>
              </a:rPr>
              <a:t>Benchmarks for comparison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b="0" i="0" dirty="0">
                <a:effectLst/>
                <a:latin typeface="-apple-system"/>
              </a:rPr>
              <a:t>PowerPoint on what I have done so far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100" b="0" i="0" dirty="0">
                <a:effectLst/>
                <a:latin typeface="-apple-system"/>
              </a:rPr>
              <a:t>Summary of everything done for ease of explanation</a:t>
            </a:r>
          </a:p>
          <a:p>
            <a:r>
              <a:rPr lang="en-GB" sz="1400" b="1" dirty="0"/>
              <a:t>Meeting 4 (Milestone 2):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b="1" dirty="0"/>
              <a:t>Briefing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Go through this PowerPoint explaining everything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Show report – Introduction, Literature &amp; Technology Review and Methodology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Show and explain current progress regarding the Artefact – 3D Modelling phase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Current analysis regarding optimisation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200" b="1" dirty="0"/>
              <a:t>Feedback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Everything was well-planned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Visually impressive via the PowerPoint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The report was well-written and highlighted key features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GB" sz="1100" dirty="0"/>
              <a:t>Add and improve the evaluation section, testing the system's efficiency</a:t>
            </a:r>
          </a:p>
        </p:txBody>
      </p:sp>
    </p:spTree>
    <p:extLst>
      <p:ext uri="{BB962C8B-B14F-4D97-AF65-F5344CB8AC3E}">
        <p14:creationId xmlns:p14="http://schemas.microsoft.com/office/powerpoint/2010/main" val="445549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44CA7-DEF8-F07B-9AE4-867AEEBDE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dirty="0"/>
              <a:t>Software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F21F3CF-8105-39D8-BF4E-3BDDA2CDF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412873"/>
              </p:ext>
            </p:extLst>
          </p:nvPr>
        </p:nvGraphicFramePr>
        <p:xfrm>
          <a:off x="811090" y="1766972"/>
          <a:ext cx="10506455" cy="4663290"/>
        </p:xfrm>
        <a:graphic>
          <a:graphicData uri="http://schemas.openxmlformats.org/drawingml/2006/table">
            <a:tbl>
              <a:tblPr firstRow="1" firstCol="1" bandRow="1"/>
              <a:tblGrid>
                <a:gridCol w="1000350">
                  <a:extLst>
                    <a:ext uri="{9D8B030D-6E8A-4147-A177-3AD203B41FA5}">
                      <a16:colId xmlns:a16="http://schemas.microsoft.com/office/drawing/2014/main" val="603440829"/>
                    </a:ext>
                  </a:extLst>
                </a:gridCol>
                <a:gridCol w="1000350">
                  <a:extLst>
                    <a:ext uri="{9D8B030D-6E8A-4147-A177-3AD203B41FA5}">
                      <a16:colId xmlns:a16="http://schemas.microsoft.com/office/drawing/2014/main" val="455075305"/>
                    </a:ext>
                  </a:extLst>
                </a:gridCol>
                <a:gridCol w="1648667">
                  <a:extLst>
                    <a:ext uri="{9D8B030D-6E8A-4147-A177-3AD203B41FA5}">
                      <a16:colId xmlns:a16="http://schemas.microsoft.com/office/drawing/2014/main" val="2542816905"/>
                    </a:ext>
                  </a:extLst>
                </a:gridCol>
                <a:gridCol w="2003846">
                  <a:extLst>
                    <a:ext uri="{9D8B030D-6E8A-4147-A177-3AD203B41FA5}">
                      <a16:colId xmlns:a16="http://schemas.microsoft.com/office/drawing/2014/main" val="567253907"/>
                    </a:ext>
                  </a:extLst>
                </a:gridCol>
                <a:gridCol w="1912078">
                  <a:extLst>
                    <a:ext uri="{9D8B030D-6E8A-4147-A177-3AD203B41FA5}">
                      <a16:colId xmlns:a16="http://schemas.microsoft.com/office/drawing/2014/main" val="293835084"/>
                    </a:ext>
                  </a:extLst>
                </a:gridCol>
                <a:gridCol w="1368151">
                  <a:extLst>
                    <a:ext uri="{9D8B030D-6E8A-4147-A177-3AD203B41FA5}">
                      <a16:colId xmlns:a16="http://schemas.microsoft.com/office/drawing/2014/main" val="2191894056"/>
                    </a:ext>
                  </a:extLst>
                </a:gridCol>
                <a:gridCol w="716173">
                  <a:extLst>
                    <a:ext uri="{9D8B030D-6E8A-4147-A177-3AD203B41FA5}">
                      <a16:colId xmlns:a16="http://schemas.microsoft.com/office/drawing/2014/main" val="3077860485"/>
                    </a:ext>
                  </a:extLst>
                </a:gridCol>
                <a:gridCol w="856840">
                  <a:extLst>
                    <a:ext uri="{9D8B030D-6E8A-4147-A177-3AD203B41FA5}">
                      <a16:colId xmlns:a16="http://schemas.microsoft.com/office/drawing/2014/main" val="1027513025"/>
                    </a:ext>
                  </a:extLst>
                </a:gridCol>
              </a:tblGrid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Features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Benefits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Ease of Use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Community Support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564458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3D Modelling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Fusion 360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3D modelling, parametric design, simulation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Accurate modelling, cloud collaboration, integrates simulation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Subscription needed, limited rendering features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 for students, ~$495/year for commercial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20844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3D Modelling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Blender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3D modelling, rendering, animation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Free, open-source, customizable, extensive plugins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Time-intensive for beginners, lacks engineering-focused tools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Large, highly active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098734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3D Modelling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SolidWorks</a:t>
                      </a:r>
                      <a:endParaRPr lang="en-GB" sz="9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CAD, engineering-focused tools</a:t>
                      </a:r>
                      <a:endParaRPr lang="en-GB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Industry-standard, highly precise</a:t>
                      </a:r>
                      <a:endParaRPr lang="en-GB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Expensive, steep learning curve</a:t>
                      </a:r>
                      <a:endParaRPr lang="en-GB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~$3,995/year</a:t>
                      </a:r>
                      <a:endParaRPr lang="en-GB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140856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Simulation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Unity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simulation, agent-based modelling</a:t>
                      </a:r>
                      <a:endParaRPr lang="en-GB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Immersive simulations, supports interactive interfaces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Steep learning curve, requires scripting knowledge (C#)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 for personal use, Pro ~$2,000/year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959256"/>
                  </a:ext>
                </a:extLst>
              </a:tr>
              <a:tr h="46474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Simulation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AnyLogic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Simulation modelling, agent-based modelling, discrete-event simulation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Combines multiple modelling paradigms, excellent for system simulations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Expensive for commercial use, steep learning curve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 for personal use, Pro/Business ~ $3000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83129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Simulation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MATLAB/Simulink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modelling, simulation, dynamic systems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Advanced engineering simulations, real-time data integration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Expensive license, steep learning curve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~$2,000/year (depends on package)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50783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Analysis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en-GB" sz="9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Statistical computing, data analysis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for statistics, visualisation packages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Steep learning curve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383728"/>
                  </a:ext>
                </a:extLst>
              </a:tr>
              <a:tr h="46474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Analysis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Python Libraries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visualization (Plotly, Matplotlib), simulation tools (SimPy)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Free, customizable, broad functionality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Requires programming skills, development time for complex tasks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 to High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Large, active on GitHub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911738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Analysis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</a:t>
                      </a:r>
                      <a:endParaRPr lang="en-GB" sz="9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Spreadsheet-based data analysis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Widely available, user-friendly interface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for large datasets, lacks automation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~$6.99/month (Microsoft 365 subscription)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Very High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086968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Visualisation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Unreal Engine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Real-time rendering, photorealistic visuals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High-quality visualization, VR/AR ready, free for small projects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Resource-intensive, steeper learning curve for advanced tasks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 for non-commercial use, royalties apply for large projects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74447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Visualisation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Unity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Real-time 3D rendering, VR/AR capabilities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Immersive simulations, supports interactive interfaces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Steep learning curve, requires scripting knowledge (C#)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Free for personal use, Pro ~$2,000/year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849901"/>
                  </a:ext>
                </a:extLst>
              </a:tr>
              <a:tr h="32183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Visualisation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/>
                        <a:t>Tableau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Interactive dashboards, visualisation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Easy-to-use, excellent for presenting insights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licensing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~$70/user/month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 High</a:t>
                      </a:r>
                      <a:endParaRPr lang="en-GB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0" i="0" u="none" strike="noStrike" dirty="0">
                          <a:effectLst/>
                          <a:latin typeface="Arial" panose="020B0604020202020204" pitchFamily="34" charset="0"/>
                        </a:rPr>
                        <a:t>Strong</a:t>
                      </a:r>
                    </a:p>
                  </a:txBody>
                  <a:tcPr marL="51471" marR="51471" marT="7149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733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62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C7AC-21DA-1975-E224-8A9AC66A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Chosen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7A75-EC7C-0208-9865-FF9CE5D7B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99610" cy="475805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1. </a:t>
            </a:r>
            <a:r>
              <a:rPr lang="en-GB" sz="1100" b="1" i="0" u="none" strike="noStrike" dirty="0">
                <a:solidFill>
                  <a:srgbClr val="000000"/>
                </a:solidFill>
                <a:effectLst/>
              </a:rPr>
              <a:t>Fusion 360: Modelling</a:t>
            </a:r>
          </a:p>
          <a:p>
            <a:pPr lvl="1"/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Overview: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A CAD software used for creating precise 3D models of the overhead cabin.</a:t>
            </a: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Supports detailed design and scalability for various aircraft configurations.</a:t>
            </a:r>
          </a:p>
          <a:p>
            <a:pPr lvl="1"/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Rationale: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Intuitive interface for intricate modelling.</a:t>
            </a: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Advanced tools for ergonomic and spatial analysis.</a:t>
            </a:r>
          </a:p>
          <a:p>
            <a:pPr lvl="1"/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Integration: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Exported models are compatible with simulation and visualisation platforms.</a:t>
            </a:r>
          </a:p>
          <a:p>
            <a:pPr marL="0" indent="0" algn="l">
              <a:buNone/>
            </a:pPr>
            <a:r>
              <a:rPr lang="en-GB" sz="1100" b="1" i="0" u="none" strike="noStrike" dirty="0">
                <a:solidFill>
                  <a:srgbClr val="000000"/>
                </a:solidFill>
                <a:effectLst/>
              </a:rPr>
              <a:t>2. AnyLogic: Simulation</a:t>
            </a:r>
          </a:p>
          <a:p>
            <a:pPr lvl="1"/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Overview: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A simulation software used to model and analyse system performance under real-world scenarios.</a:t>
            </a: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Evaluate storage capacity, passenger interaction, and cabin efficiency.</a:t>
            </a:r>
          </a:p>
          <a:p>
            <a:pPr lvl="1"/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Rationale: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Ideal for complex system dynamics and scenario testing.</a:t>
            </a: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It supports the integration of CAD data for realistic simulation.</a:t>
            </a:r>
          </a:p>
          <a:p>
            <a:pPr lvl="1"/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Integration: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/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Imports Fusion 360 models to simulate design functionality under varied conditions.</a:t>
            </a:r>
          </a:p>
          <a:p>
            <a:endParaRPr lang="en-GB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269FC-3CA0-FDBC-F728-00A61BF3C48E}"/>
              </a:ext>
            </a:extLst>
          </p:cNvPr>
          <p:cNvSpPr txBox="1"/>
          <p:nvPr/>
        </p:nvSpPr>
        <p:spPr>
          <a:xfrm>
            <a:off x="6096000" y="1825624"/>
            <a:ext cx="4991100" cy="4587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GB" sz="1100" b="1" i="0" u="none" strike="noStrike" dirty="0">
                <a:solidFill>
                  <a:srgbClr val="000000"/>
                </a:solidFill>
                <a:effectLst/>
              </a:rPr>
              <a:t>3. Python: Data Analysis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Overview: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Used to process and analyse research data, simulation outputs, and feedback metrics.</a:t>
            </a: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Libraries like Pandas and Matplotlib provide data manipulation and visualisation capabilities.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Rationale: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Efficient for handling large datasets and generating actionable insights.</a:t>
            </a: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Enables statistical analysis and trend identification.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Integration: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Data from simulations and user studies are processed to refine design iterations.</a:t>
            </a:r>
          </a:p>
          <a:p>
            <a:pPr algn="l">
              <a:lnSpc>
                <a:spcPct val="110000"/>
              </a:lnSpc>
            </a:pPr>
            <a:r>
              <a:rPr lang="en-GB" sz="1000" b="1" i="0" u="none" strike="noStrike" dirty="0">
                <a:solidFill>
                  <a:srgbClr val="000000"/>
                </a:solidFill>
                <a:effectLst/>
              </a:rPr>
              <a:t>4</a:t>
            </a:r>
            <a:r>
              <a:rPr lang="en-GB" sz="1100" b="1" i="0" u="none" strike="noStrike" dirty="0">
                <a:solidFill>
                  <a:srgbClr val="000000"/>
                </a:solidFill>
                <a:effectLst/>
              </a:rPr>
              <a:t>. Unity: Visualization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Overview: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A game engine creates interactive 3D visualisations of the overhead cabin design.</a:t>
            </a: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Enables immersive demonstrations for stakeholders.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Rationale: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Facilitates real-time interaction and visualisation of the final product.</a:t>
            </a: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Enhances stakeholder understanding through virtual exploration.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50" b="1" i="0" u="none" strike="noStrike" dirty="0">
                <a:solidFill>
                  <a:srgbClr val="000000"/>
                </a:solidFill>
                <a:effectLst/>
              </a:rPr>
              <a:t>Integration:</a:t>
            </a:r>
            <a:endParaRPr lang="en-GB" sz="1050" b="0" i="0" u="none" strike="noStrike" dirty="0">
              <a:solidFill>
                <a:srgbClr val="000000"/>
              </a:solidFill>
              <a:effectLst/>
            </a:endParaRPr>
          </a:p>
          <a:p>
            <a:pPr marL="1085850" lvl="2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1000" b="0" i="0" u="none" strike="noStrike" dirty="0">
                <a:solidFill>
                  <a:srgbClr val="000000"/>
                </a:solidFill>
                <a:effectLst/>
              </a:rPr>
              <a:t>Imports 3D models from Fusion 360 and integrates simulation data for realistic interactions.</a:t>
            </a:r>
          </a:p>
          <a:p>
            <a:pPr>
              <a:lnSpc>
                <a:spcPct val="110000"/>
              </a:lnSpc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47536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 descr="A grey rectangular object with holes&#10;&#10;Description automatically generated">
            <a:extLst>
              <a:ext uri="{FF2B5EF4-FFF2-40B4-BE49-F238E27FC236}">
                <a16:creationId xmlns:a16="http://schemas.microsoft.com/office/drawing/2014/main" id="{A5DEC2A0-9CDF-DB10-8E3D-2FE60635D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100" y="1893094"/>
            <a:ext cx="9067800" cy="42164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7AB642-C8D6-D2F7-F13A-522016F0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Models – Overhead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872B36-B429-E044-51D1-996F0F4A210E}"/>
              </a:ext>
            </a:extLst>
          </p:cNvPr>
          <p:cNvCxnSpPr/>
          <p:nvPr/>
        </p:nvCxnSpPr>
        <p:spPr>
          <a:xfrm flipV="1">
            <a:off x="1851660" y="2032858"/>
            <a:ext cx="6423660" cy="9029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EF529F-E302-1D83-965B-1EA56467652F}"/>
              </a:ext>
            </a:extLst>
          </p:cNvPr>
          <p:cNvCxnSpPr>
            <a:cxnSpLocks/>
          </p:cNvCxnSpPr>
          <p:nvPr/>
        </p:nvCxnSpPr>
        <p:spPr>
          <a:xfrm>
            <a:off x="1733231" y="3051810"/>
            <a:ext cx="0" cy="21259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46E319-4B85-E0BA-51ED-4648E755CB26}"/>
              </a:ext>
            </a:extLst>
          </p:cNvPr>
          <p:cNvCxnSpPr/>
          <p:nvPr/>
        </p:nvCxnSpPr>
        <p:spPr>
          <a:xfrm>
            <a:off x="1721801" y="5269294"/>
            <a:ext cx="1954530" cy="5829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36DBAB6-91E9-3DFE-3EFD-8D9390E4E557}"/>
              </a:ext>
            </a:extLst>
          </p:cNvPr>
          <p:cNvSpPr/>
          <p:nvPr/>
        </p:nvSpPr>
        <p:spPr>
          <a:xfrm>
            <a:off x="715487" y="4001294"/>
            <a:ext cx="1056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00mm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30622E-7011-647A-E0E8-EA7FE4268579}"/>
              </a:ext>
            </a:extLst>
          </p:cNvPr>
          <p:cNvSpPr/>
          <p:nvPr/>
        </p:nvSpPr>
        <p:spPr>
          <a:xfrm>
            <a:off x="4167347" y="2145789"/>
            <a:ext cx="1056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1450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1935A4-1D7C-3D8A-5FE5-3B91BC445A19}"/>
              </a:ext>
            </a:extLst>
          </p:cNvPr>
          <p:cNvSpPr/>
          <p:nvPr/>
        </p:nvSpPr>
        <p:spPr>
          <a:xfrm>
            <a:off x="1642903" y="5488573"/>
            <a:ext cx="1056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610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mm</a:t>
            </a:r>
          </a:p>
        </p:txBody>
      </p:sp>
    </p:spTree>
    <p:extLst>
      <p:ext uri="{BB962C8B-B14F-4D97-AF65-F5344CB8AC3E}">
        <p14:creationId xmlns:p14="http://schemas.microsoft.com/office/powerpoint/2010/main" val="357089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FFEE-78F7-DBFB-6388-1F2B0C20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Model – Overhead 2</a:t>
            </a:r>
          </a:p>
        </p:txBody>
      </p:sp>
      <p:pic>
        <p:nvPicPr>
          <p:cNvPr id="5" name="Content Placeholder 4" descr="A grey box with a shelf&#10;&#10;Description automatically generated">
            <a:extLst>
              <a:ext uri="{FF2B5EF4-FFF2-40B4-BE49-F238E27FC236}">
                <a16:creationId xmlns:a16="http://schemas.microsoft.com/office/drawing/2014/main" id="{DF4A839E-5677-683E-F532-609A1A74D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321" y="1825625"/>
            <a:ext cx="7841357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59BDFA-D3BE-A44C-F366-ADE16E1B7ACB}"/>
              </a:ext>
            </a:extLst>
          </p:cNvPr>
          <p:cNvCxnSpPr/>
          <p:nvPr/>
        </p:nvCxnSpPr>
        <p:spPr>
          <a:xfrm flipV="1">
            <a:off x="2617470" y="2011680"/>
            <a:ext cx="5063490" cy="5829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25226A-2382-EA05-213D-B801FC2BF59F}"/>
              </a:ext>
            </a:extLst>
          </p:cNvPr>
          <p:cNvCxnSpPr/>
          <p:nvPr/>
        </p:nvCxnSpPr>
        <p:spPr>
          <a:xfrm>
            <a:off x="2503170" y="2720340"/>
            <a:ext cx="0" cy="2731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210973-515D-C6EB-E7B4-78C5074F20F6}"/>
              </a:ext>
            </a:extLst>
          </p:cNvPr>
          <p:cNvCxnSpPr/>
          <p:nvPr/>
        </p:nvCxnSpPr>
        <p:spPr>
          <a:xfrm>
            <a:off x="2617470" y="5543550"/>
            <a:ext cx="1897380" cy="4914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EDD17A1-0F39-1E59-223F-8CF8FBE6E28F}"/>
              </a:ext>
            </a:extLst>
          </p:cNvPr>
          <p:cNvSpPr/>
          <p:nvPr/>
        </p:nvSpPr>
        <p:spPr>
          <a:xfrm>
            <a:off x="4427220" y="2011680"/>
            <a:ext cx="1056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00mm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19102-E576-756B-40E9-E668504E96CF}"/>
              </a:ext>
            </a:extLst>
          </p:cNvPr>
          <p:cNvSpPr/>
          <p:nvPr/>
        </p:nvSpPr>
        <p:spPr>
          <a:xfrm>
            <a:off x="1561307" y="4069080"/>
            <a:ext cx="1056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00mm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64C8F-D1D9-0609-764E-26107BEA2C13}"/>
              </a:ext>
            </a:extLst>
          </p:cNvPr>
          <p:cNvSpPr/>
          <p:nvPr/>
        </p:nvSpPr>
        <p:spPr>
          <a:xfrm>
            <a:off x="2617470" y="5696486"/>
            <a:ext cx="105616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</p:spTree>
    <p:extLst>
      <p:ext uri="{BB962C8B-B14F-4D97-AF65-F5344CB8AC3E}">
        <p14:creationId xmlns:p14="http://schemas.microsoft.com/office/powerpoint/2010/main" val="224409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4EF5-E1E3-E4C8-CF1E-1676C5F2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Model – Carry-on Luggage</a:t>
            </a:r>
          </a:p>
        </p:txBody>
      </p:sp>
      <p:pic>
        <p:nvPicPr>
          <p:cNvPr id="5" name="Content Placeholder 4" descr="A grey rectangular object on graph paper&#10;&#10;Description automatically generated">
            <a:extLst>
              <a:ext uri="{FF2B5EF4-FFF2-40B4-BE49-F238E27FC236}">
                <a16:creationId xmlns:a16="http://schemas.microsoft.com/office/drawing/2014/main" id="{B526E040-927D-92F9-CD0D-20C6DD2D1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642" y="2196624"/>
            <a:ext cx="5554341" cy="3746976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8D6C26-18DD-391E-B2F7-4B3AEA7C5EC3}"/>
              </a:ext>
            </a:extLst>
          </p:cNvPr>
          <p:cNvCxnSpPr>
            <a:cxnSpLocks/>
          </p:cNvCxnSpPr>
          <p:nvPr/>
        </p:nvCxnSpPr>
        <p:spPr>
          <a:xfrm flipV="1">
            <a:off x="1009545" y="2504871"/>
            <a:ext cx="2259435" cy="8553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65405C-CB06-654D-263A-4F2597218D0B}"/>
              </a:ext>
            </a:extLst>
          </p:cNvPr>
          <p:cNvCxnSpPr>
            <a:cxnSpLocks/>
          </p:cNvCxnSpPr>
          <p:nvPr/>
        </p:nvCxnSpPr>
        <p:spPr>
          <a:xfrm>
            <a:off x="968427" y="3429000"/>
            <a:ext cx="0" cy="16365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4BE3B3-67D5-2A17-37CA-50064D7E3638}"/>
              </a:ext>
            </a:extLst>
          </p:cNvPr>
          <p:cNvCxnSpPr>
            <a:cxnSpLocks/>
          </p:cNvCxnSpPr>
          <p:nvPr/>
        </p:nvCxnSpPr>
        <p:spPr>
          <a:xfrm>
            <a:off x="1056162" y="5130745"/>
            <a:ext cx="1959948" cy="7042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27430-9242-A035-A257-04E5237C4659}"/>
              </a:ext>
            </a:extLst>
          </p:cNvPr>
          <p:cNvSpPr/>
          <p:nvPr/>
        </p:nvSpPr>
        <p:spPr>
          <a:xfrm>
            <a:off x="1604935" y="2534759"/>
            <a:ext cx="86240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56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078B81-6D98-1012-9E93-1805DDDD9D4D}"/>
              </a:ext>
            </a:extLst>
          </p:cNvPr>
          <p:cNvSpPr/>
          <p:nvPr/>
        </p:nvSpPr>
        <p:spPr>
          <a:xfrm>
            <a:off x="106025" y="4070112"/>
            <a:ext cx="86240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FBF44-51F1-66BB-3311-C34FB6109012}"/>
              </a:ext>
            </a:extLst>
          </p:cNvPr>
          <p:cNvSpPr/>
          <p:nvPr/>
        </p:nvSpPr>
        <p:spPr>
          <a:xfrm>
            <a:off x="1173734" y="5436475"/>
            <a:ext cx="86240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45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  <p:pic>
        <p:nvPicPr>
          <p:cNvPr id="23" name="Picture 22" descr="A black box with wheels&#10;&#10;Description automatically generated">
            <a:extLst>
              <a:ext uri="{FF2B5EF4-FFF2-40B4-BE49-F238E27FC236}">
                <a16:creationId xmlns:a16="http://schemas.microsoft.com/office/drawing/2014/main" id="{45CF0040-E792-C986-6AE7-AC3529E60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988" y="1788444"/>
            <a:ext cx="4581370" cy="423619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82D9AA-DF02-7A71-102E-78387AFE9B51}"/>
              </a:ext>
            </a:extLst>
          </p:cNvPr>
          <p:cNvCxnSpPr>
            <a:cxnSpLocks/>
          </p:cNvCxnSpPr>
          <p:nvPr/>
        </p:nvCxnSpPr>
        <p:spPr>
          <a:xfrm flipV="1">
            <a:off x="7295854" y="1885950"/>
            <a:ext cx="2671106" cy="5143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E4DCE9-6034-EEE1-578B-DEDC798199C2}"/>
              </a:ext>
            </a:extLst>
          </p:cNvPr>
          <p:cNvCxnSpPr>
            <a:cxnSpLocks/>
          </p:cNvCxnSpPr>
          <p:nvPr/>
        </p:nvCxnSpPr>
        <p:spPr>
          <a:xfrm flipV="1">
            <a:off x="7075170" y="2534759"/>
            <a:ext cx="80010" cy="3070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5B747A1-D708-974C-83B6-AA51FC478783}"/>
              </a:ext>
            </a:extLst>
          </p:cNvPr>
          <p:cNvCxnSpPr>
            <a:cxnSpLocks/>
          </p:cNvCxnSpPr>
          <p:nvPr/>
        </p:nvCxnSpPr>
        <p:spPr>
          <a:xfrm>
            <a:off x="7155180" y="5628612"/>
            <a:ext cx="1108710" cy="2977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C8E2B9A-0A8F-A892-2804-0F2083534AD3}"/>
              </a:ext>
            </a:extLst>
          </p:cNvPr>
          <p:cNvSpPr/>
          <p:nvPr/>
        </p:nvSpPr>
        <p:spPr>
          <a:xfrm>
            <a:off x="7115175" y="5806242"/>
            <a:ext cx="86240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16E805-EEC3-67A9-6698-7A45A0E4630B}"/>
              </a:ext>
            </a:extLst>
          </p:cNvPr>
          <p:cNvSpPr/>
          <p:nvPr/>
        </p:nvSpPr>
        <p:spPr>
          <a:xfrm>
            <a:off x="6267181" y="4063734"/>
            <a:ext cx="86240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45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76812F-9A71-0299-05CB-18CCB7E4BAA0}"/>
              </a:ext>
            </a:extLst>
          </p:cNvPr>
          <p:cNvSpPr/>
          <p:nvPr/>
        </p:nvSpPr>
        <p:spPr>
          <a:xfrm>
            <a:off x="7977577" y="1794260"/>
            <a:ext cx="86240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56</a:t>
            </a:r>
            <a:r>
              <a:rPr lang="en-GB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0mm</a:t>
            </a:r>
          </a:p>
        </p:txBody>
      </p:sp>
    </p:spTree>
    <p:extLst>
      <p:ext uri="{BB962C8B-B14F-4D97-AF65-F5344CB8AC3E}">
        <p14:creationId xmlns:p14="http://schemas.microsoft.com/office/powerpoint/2010/main" val="3911150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E268-94B5-DE26-350E-566ADDE2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Optimisation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9153F-0095-60D2-3E8B-C1D53ACA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Generic Aircraft Size ~ 30-40metres</a:t>
            </a:r>
          </a:p>
          <a:p>
            <a:r>
              <a:rPr lang="en-GB" dirty="0"/>
              <a:t>LCM for the 2 Overhead Model – 3190cm/31.9metres</a:t>
            </a:r>
          </a:p>
          <a:p>
            <a:r>
              <a:rPr lang="en-GB" dirty="0"/>
              <a:t>Overhead 1: 3 per Bin – 22 Bins – 66 Carry-ons</a:t>
            </a:r>
          </a:p>
          <a:p>
            <a:r>
              <a:rPr lang="en-GB" dirty="0"/>
              <a:t>Overhead 2: 4 per Bin – 29 Bins – 116 Carry-ons</a:t>
            </a:r>
          </a:p>
          <a:p>
            <a:r>
              <a:rPr lang="en-GB" dirty="0"/>
              <a:t>Percentage Increase: 80%</a:t>
            </a:r>
          </a:p>
          <a:p>
            <a:r>
              <a:rPr lang="en-GB" dirty="0"/>
              <a:t>Dimension Change: Lower the Overhead by 10cm</a:t>
            </a:r>
          </a:p>
        </p:txBody>
      </p:sp>
    </p:spTree>
    <p:extLst>
      <p:ext uri="{BB962C8B-B14F-4D97-AF65-F5344CB8AC3E}">
        <p14:creationId xmlns:p14="http://schemas.microsoft.com/office/powerpoint/2010/main" val="2770734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2CDF-D1E2-7EB2-F6C2-BE5CD345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5D07-BDFB-A734-B863-6C60FD9A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1. Quantitative Performance Metrics</a:t>
            </a:r>
          </a:p>
          <a:p>
            <a:pPr lvl="1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Metrics Used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Boarding Time: Measure average boarding and luggage storage duration.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Storage Utilisation: Assess the percentage of overhead bin space effectively used.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Passenger Satisfaction: Simulated proxies to infer convenience and efficiency.</a:t>
            </a:r>
          </a:p>
          <a:p>
            <a:pPr lvl="1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Approach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Compare baseline (current practices) with optimised configurations.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Analyse data using Python libraries (Pandas, NumPy).</a:t>
            </a:r>
          </a:p>
          <a:p>
            <a:pPr lvl="1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Unit 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Validate each metric’s calculation.</a:t>
            </a:r>
          </a:p>
          <a:p>
            <a:pPr marL="1200150" lvl="2" indent="-285750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Integration 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Ensure data flows seamlessly from simulation to analysis.</a:t>
            </a:r>
          </a:p>
          <a:p>
            <a:pPr marL="0" indent="0" algn="l">
              <a:buNone/>
            </a:pPr>
            <a:r>
              <a:rPr lang="en-GB" b="1" dirty="0">
                <a:solidFill>
                  <a:srgbClr val="000000"/>
                </a:solidFill>
              </a:rPr>
              <a:t>2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. Technical Validation Through Testing</a:t>
            </a:r>
          </a:p>
          <a:p>
            <a:pPr lvl="1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Unit 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Test individual components (e.g., 3D model, simulation scenarios, visualisation modules).</a:t>
            </a:r>
          </a:p>
          <a:p>
            <a:pPr lvl="1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Integration 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Validate end-to-end workflow (Fusion 360 → AnyLogic → Python → Unity).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Ensure accurate data exchange and compatibility between tools.</a:t>
            </a:r>
          </a:p>
          <a:p>
            <a:pPr lvl="1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Guarantee reliability, scalability, and real-world applicability of the digital twin artefact.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03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1120</Words>
  <Application>Microsoft Macintosh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Calibri</vt:lpstr>
      <vt:lpstr>Office Theme</vt:lpstr>
      <vt:lpstr>Aircraft Optimisation</vt:lpstr>
      <vt:lpstr>Gantt Chart Overall</vt:lpstr>
      <vt:lpstr>Gantt Chart Current Progress</vt:lpstr>
      <vt:lpstr>Gantt Chart Expected Progress</vt:lpstr>
      <vt:lpstr>Trello</vt:lpstr>
      <vt:lpstr>Trello – Meetings and Feedback</vt:lpstr>
      <vt:lpstr>Software Analysis</vt:lpstr>
      <vt:lpstr>Software Chosen</vt:lpstr>
      <vt:lpstr>3D Models – Overhead 1</vt:lpstr>
      <vt:lpstr>3D Model – Overhead 2</vt:lpstr>
      <vt:lpstr>3D Model – Carry-on Luggage</vt:lpstr>
      <vt:lpstr>Optimisation Analysis</vt:lpstr>
      <vt:lpstr>Evaluation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Rizwan Khan</dc:creator>
  <cp:lastModifiedBy>Rizwan Khan</cp:lastModifiedBy>
  <cp:revision>1</cp:revision>
  <dcterms:created xsi:type="dcterms:W3CDTF">2025-01-15T09:32:17Z</dcterms:created>
  <dcterms:modified xsi:type="dcterms:W3CDTF">2025-01-17T14:59:07Z</dcterms:modified>
</cp:coreProperties>
</file>